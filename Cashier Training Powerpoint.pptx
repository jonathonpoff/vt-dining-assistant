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7"/>
  </p:notesMasterIdLst>
  <p:handoutMasterIdLst>
    <p:handoutMasterId r:id="rId28"/>
  </p:handoutMasterIdLst>
  <p:sldIdLst>
    <p:sldId id="256" r:id="rId2"/>
    <p:sldId id="257" r:id="rId3"/>
    <p:sldId id="258" r:id="rId4"/>
    <p:sldId id="259" r:id="rId5"/>
    <p:sldId id="260" r:id="rId6"/>
    <p:sldId id="261" r:id="rId7"/>
    <p:sldId id="262" r:id="rId8"/>
    <p:sldId id="263" r:id="rId9"/>
    <p:sldId id="265" r:id="rId10"/>
    <p:sldId id="266" r:id="rId11"/>
    <p:sldId id="275" r:id="rId12"/>
    <p:sldId id="267" r:id="rId13"/>
    <p:sldId id="285" r:id="rId14"/>
    <p:sldId id="282" r:id="rId15"/>
    <p:sldId id="283" r:id="rId16"/>
    <p:sldId id="289" r:id="rId17"/>
    <p:sldId id="284" r:id="rId18"/>
    <p:sldId id="271" r:id="rId19"/>
    <p:sldId id="272" r:id="rId20"/>
    <p:sldId id="273" r:id="rId21"/>
    <p:sldId id="279" r:id="rId22"/>
    <p:sldId id="281" r:id="rId23"/>
    <p:sldId id="277" r:id="rId24"/>
    <p:sldId id="276" r:id="rId25"/>
    <p:sldId id="287" r:id="rId26"/>
  </p:sldIdLst>
  <p:sldSz cx="12192000" cy="6858000"/>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131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35" autoAdjust="0"/>
    <p:restoredTop sz="94660"/>
  </p:normalViewPr>
  <p:slideViewPr>
    <p:cSldViewPr snapToGrid="0">
      <p:cViewPr varScale="1">
        <p:scale>
          <a:sx n="86" d="100"/>
          <a:sy n="86" d="100"/>
        </p:scale>
        <p:origin x="126"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971523-9889-4780-B764-719488C16E2B}" type="doc">
      <dgm:prSet loTypeId="urn:microsoft.com/office/officeart/2005/8/layout/cycle2" loCatId="cycle" qsTypeId="urn:microsoft.com/office/officeart/2005/8/quickstyle/simple1" qsCatId="simple" csTypeId="urn:microsoft.com/office/officeart/2005/8/colors/colorful1" csCatId="colorful" phldr="1"/>
      <dgm:spPr/>
      <dgm:t>
        <a:bodyPr/>
        <a:lstStyle/>
        <a:p>
          <a:endParaRPr lang="en-US"/>
        </a:p>
      </dgm:t>
    </dgm:pt>
    <dgm:pt modelId="{558D4486-ABB5-4918-AC9D-E186A058D1F6}">
      <dgm:prSet phldrT="[Text]" custT="1"/>
      <dgm:spPr/>
      <dgm:t>
        <a:bodyPr/>
        <a:lstStyle/>
        <a:p>
          <a:r>
            <a:rPr lang="en-US" sz="1600" dirty="0" smtClean="0"/>
            <a:t>Turns in to go container to Ozzi machine </a:t>
          </a:r>
          <a:endParaRPr lang="en-US" sz="1600" dirty="0"/>
        </a:p>
      </dgm:t>
    </dgm:pt>
    <dgm:pt modelId="{5B7D4B98-3123-4DBC-8A97-A60A063322BF}" type="parTrans" cxnId="{2C733922-DEDC-4077-8152-D4C6BC594071}">
      <dgm:prSet/>
      <dgm:spPr/>
      <dgm:t>
        <a:bodyPr/>
        <a:lstStyle/>
        <a:p>
          <a:endParaRPr lang="en-US"/>
        </a:p>
      </dgm:t>
    </dgm:pt>
    <dgm:pt modelId="{F20CFBBD-A742-4869-BFC8-1D46D3CD1EA3}" type="sibTrans" cxnId="{2C733922-DEDC-4077-8152-D4C6BC594071}">
      <dgm:prSet/>
      <dgm:spPr/>
      <dgm:t>
        <a:bodyPr/>
        <a:lstStyle/>
        <a:p>
          <a:endParaRPr lang="en-US"/>
        </a:p>
      </dgm:t>
    </dgm:pt>
    <dgm:pt modelId="{F9FF722B-B7F0-4A97-BE2A-347E47F2286E}">
      <dgm:prSet phldrT="[Text]" custT="1"/>
      <dgm:spPr/>
      <dgm:t>
        <a:bodyPr/>
        <a:lstStyle/>
        <a:p>
          <a:r>
            <a:rPr lang="en-US" sz="1600" dirty="0" smtClean="0"/>
            <a:t>Swipes Hokie Passport to get credit for container at Ozzi</a:t>
          </a:r>
          <a:endParaRPr lang="en-US" sz="1600" dirty="0"/>
        </a:p>
      </dgm:t>
    </dgm:pt>
    <dgm:pt modelId="{547D7FB7-A485-4B6E-A5EF-B0953C5A5355}" type="parTrans" cxnId="{4F89A99B-A2D8-4720-B105-A96A45AA381E}">
      <dgm:prSet/>
      <dgm:spPr/>
      <dgm:t>
        <a:bodyPr/>
        <a:lstStyle/>
        <a:p>
          <a:endParaRPr lang="en-US"/>
        </a:p>
      </dgm:t>
    </dgm:pt>
    <dgm:pt modelId="{9B632B0D-A4B1-4F95-B775-D635C57CBEF2}" type="sibTrans" cxnId="{4F89A99B-A2D8-4720-B105-A96A45AA381E}">
      <dgm:prSet/>
      <dgm:spPr/>
      <dgm:t>
        <a:bodyPr/>
        <a:lstStyle/>
        <a:p>
          <a:endParaRPr lang="en-US"/>
        </a:p>
      </dgm:t>
    </dgm:pt>
    <dgm:pt modelId="{A9FA3206-A4A9-46D2-B159-28CF967BC42D}">
      <dgm:prSet phldrT="[Text]" custT="1"/>
      <dgm:spPr/>
      <dgm:t>
        <a:bodyPr/>
        <a:lstStyle/>
        <a:p>
          <a:r>
            <a:rPr lang="en-US" sz="1600" dirty="0" smtClean="0"/>
            <a:t>Orders food in a reusable to go container </a:t>
          </a:r>
          <a:endParaRPr lang="en-US" sz="1600" dirty="0"/>
        </a:p>
      </dgm:t>
    </dgm:pt>
    <dgm:pt modelId="{ACA37A65-9093-40A3-A05A-7D4667384A37}" type="parTrans" cxnId="{5059D30E-7FE3-44C4-846C-D344B888BC15}">
      <dgm:prSet/>
      <dgm:spPr/>
      <dgm:t>
        <a:bodyPr/>
        <a:lstStyle/>
        <a:p>
          <a:endParaRPr lang="en-US"/>
        </a:p>
      </dgm:t>
    </dgm:pt>
    <dgm:pt modelId="{F47D1951-54F2-405F-84B2-6EDEED5F1711}" type="sibTrans" cxnId="{5059D30E-7FE3-44C4-846C-D344B888BC15}">
      <dgm:prSet/>
      <dgm:spPr/>
      <dgm:t>
        <a:bodyPr/>
        <a:lstStyle/>
        <a:p>
          <a:endParaRPr lang="en-US"/>
        </a:p>
      </dgm:t>
    </dgm:pt>
    <dgm:pt modelId="{50CF23FE-B83F-47BB-BE6A-917BE7D49109}">
      <dgm:prSet phldrT="[Text]" custT="1"/>
      <dgm:spPr/>
      <dgm:t>
        <a:bodyPr/>
        <a:lstStyle/>
        <a:p>
          <a:r>
            <a:rPr lang="en-US" sz="1600" dirty="0" smtClean="0"/>
            <a:t>Cashier swipes Hokie Passport to remove Ozzi credit</a:t>
          </a:r>
          <a:endParaRPr lang="en-US" sz="1600" dirty="0"/>
        </a:p>
      </dgm:t>
    </dgm:pt>
    <dgm:pt modelId="{29D7E731-BE44-4BD3-B82B-B53F22A1D3A1}" type="parTrans" cxnId="{3AB65B22-3B6E-467C-B7BF-05484146C7A5}">
      <dgm:prSet/>
      <dgm:spPr/>
      <dgm:t>
        <a:bodyPr/>
        <a:lstStyle/>
        <a:p>
          <a:endParaRPr lang="en-US"/>
        </a:p>
      </dgm:t>
    </dgm:pt>
    <dgm:pt modelId="{E329069C-ACF5-4B8D-8C43-9CDC1AB98F01}" type="sibTrans" cxnId="{3AB65B22-3B6E-467C-B7BF-05484146C7A5}">
      <dgm:prSet/>
      <dgm:spPr/>
      <dgm:t>
        <a:bodyPr/>
        <a:lstStyle/>
        <a:p>
          <a:endParaRPr lang="en-US"/>
        </a:p>
      </dgm:t>
    </dgm:pt>
    <dgm:pt modelId="{4FD77354-E531-4BF2-9341-D591D180B0B8}" type="pres">
      <dgm:prSet presAssocID="{56971523-9889-4780-B764-719488C16E2B}" presName="cycle" presStyleCnt="0">
        <dgm:presLayoutVars>
          <dgm:dir/>
          <dgm:resizeHandles val="exact"/>
        </dgm:presLayoutVars>
      </dgm:prSet>
      <dgm:spPr/>
      <dgm:t>
        <a:bodyPr/>
        <a:lstStyle/>
        <a:p>
          <a:endParaRPr lang="en-US"/>
        </a:p>
      </dgm:t>
    </dgm:pt>
    <dgm:pt modelId="{12CC5DA8-8CC2-4DBC-8A0C-F6E57FB47F19}" type="pres">
      <dgm:prSet presAssocID="{A9FA3206-A4A9-46D2-B159-28CF967BC42D}" presName="node" presStyleLbl="node1" presStyleIdx="0" presStyleCnt="4">
        <dgm:presLayoutVars>
          <dgm:bulletEnabled val="1"/>
        </dgm:presLayoutVars>
      </dgm:prSet>
      <dgm:spPr/>
      <dgm:t>
        <a:bodyPr/>
        <a:lstStyle/>
        <a:p>
          <a:endParaRPr lang="en-US"/>
        </a:p>
      </dgm:t>
    </dgm:pt>
    <dgm:pt modelId="{CD315C1D-3F0D-4D0B-82DB-E2DED51D3530}" type="pres">
      <dgm:prSet presAssocID="{F47D1951-54F2-405F-84B2-6EDEED5F1711}" presName="sibTrans" presStyleLbl="sibTrans2D1" presStyleIdx="0" presStyleCnt="4"/>
      <dgm:spPr/>
      <dgm:t>
        <a:bodyPr/>
        <a:lstStyle/>
        <a:p>
          <a:endParaRPr lang="en-US"/>
        </a:p>
      </dgm:t>
    </dgm:pt>
    <dgm:pt modelId="{03E36D12-1EF2-4D06-BDFC-CA7C86F898F2}" type="pres">
      <dgm:prSet presAssocID="{F47D1951-54F2-405F-84B2-6EDEED5F1711}" presName="connectorText" presStyleLbl="sibTrans2D1" presStyleIdx="0" presStyleCnt="4"/>
      <dgm:spPr/>
      <dgm:t>
        <a:bodyPr/>
        <a:lstStyle/>
        <a:p>
          <a:endParaRPr lang="en-US"/>
        </a:p>
      </dgm:t>
    </dgm:pt>
    <dgm:pt modelId="{39D0DAD7-6A69-44A2-8556-B836C694A4EA}" type="pres">
      <dgm:prSet presAssocID="{50CF23FE-B83F-47BB-BE6A-917BE7D49109}" presName="node" presStyleLbl="node1" presStyleIdx="1" presStyleCnt="4">
        <dgm:presLayoutVars>
          <dgm:bulletEnabled val="1"/>
        </dgm:presLayoutVars>
      </dgm:prSet>
      <dgm:spPr/>
      <dgm:t>
        <a:bodyPr/>
        <a:lstStyle/>
        <a:p>
          <a:endParaRPr lang="en-US"/>
        </a:p>
      </dgm:t>
    </dgm:pt>
    <dgm:pt modelId="{B86575A2-6D2A-411E-B1C4-58EF1A63617D}" type="pres">
      <dgm:prSet presAssocID="{E329069C-ACF5-4B8D-8C43-9CDC1AB98F01}" presName="sibTrans" presStyleLbl="sibTrans2D1" presStyleIdx="1" presStyleCnt="4"/>
      <dgm:spPr/>
      <dgm:t>
        <a:bodyPr/>
        <a:lstStyle/>
        <a:p>
          <a:endParaRPr lang="en-US"/>
        </a:p>
      </dgm:t>
    </dgm:pt>
    <dgm:pt modelId="{60FDCDAE-4340-4EC3-AC37-00B47869FD99}" type="pres">
      <dgm:prSet presAssocID="{E329069C-ACF5-4B8D-8C43-9CDC1AB98F01}" presName="connectorText" presStyleLbl="sibTrans2D1" presStyleIdx="1" presStyleCnt="4"/>
      <dgm:spPr/>
      <dgm:t>
        <a:bodyPr/>
        <a:lstStyle/>
        <a:p>
          <a:endParaRPr lang="en-US"/>
        </a:p>
      </dgm:t>
    </dgm:pt>
    <dgm:pt modelId="{8893098F-83D7-45F8-B7D2-3F7CEBE6EAA5}" type="pres">
      <dgm:prSet presAssocID="{558D4486-ABB5-4918-AC9D-E186A058D1F6}" presName="node" presStyleLbl="node1" presStyleIdx="2" presStyleCnt="4">
        <dgm:presLayoutVars>
          <dgm:bulletEnabled val="1"/>
        </dgm:presLayoutVars>
      </dgm:prSet>
      <dgm:spPr/>
      <dgm:t>
        <a:bodyPr/>
        <a:lstStyle/>
        <a:p>
          <a:endParaRPr lang="en-US"/>
        </a:p>
      </dgm:t>
    </dgm:pt>
    <dgm:pt modelId="{C8147AC6-5FE7-4144-94C6-CCB7D859D3C6}" type="pres">
      <dgm:prSet presAssocID="{F20CFBBD-A742-4869-BFC8-1D46D3CD1EA3}" presName="sibTrans" presStyleLbl="sibTrans2D1" presStyleIdx="2" presStyleCnt="4"/>
      <dgm:spPr/>
      <dgm:t>
        <a:bodyPr/>
        <a:lstStyle/>
        <a:p>
          <a:endParaRPr lang="en-US"/>
        </a:p>
      </dgm:t>
    </dgm:pt>
    <dgm:pt modelId="{EF543150-24AC-43D5-9009-9FB03C6536FE}" type="pres">
      <dgm:prSet presAssocID="{F20CFBBD-A742-4869-BFC8-1D46D3CD1EA3}" presName="connectorText" presStyleLbl="sibTrans2D1" presStyleIdx="2" presStyleCnt="4"/>
      <dgm:spPr/>
      <dgm:t>
        <a:bodyPr/>
        <a:lstStyle/>
        <a:p>
          <a:endParaRPr lang="en-US"/>
        </a:p>
      </dgm:t>
    </dgm:pt>
    <dgm:pt modelId="{FD4C5046-CF8A-4407-9F6E-42CED29D6842}" type="pres">
      <dgm:prSet presAssocID="{F9FF722B-B7F0-4A97-BE2A-347E47F2286E}" presName="node" presStyleLbl="node1" presStyleIdx="3" presStyleCnt="4">
        <dgm:presLayoutVars>
          <dgm:bulletEnabled val="1"/>
        </dgm:presLayoutVars>
      </dgm:prSet>
      <dgm:spPr/>
      <dgm:t>
        <a:bodyPr/>
        <a:lstStyle/>
        <a:p>
          <a:endParaRPr lang="en-US"/>
        </a:p>
      </dgm:t>
    </dgm:pt>
    <dgm:pt modelId="{7FF19945-4972-4C0B-9A9C-C4700FC2F681}" type="pres">
      <dgm:prSet presAssocID="{9B632B0D-A4B1-4F95-B775-D635C57CBEF2}" presName="sibTrans" presStyleLbl="sibTrans2D1" presStyleIdx="3" presStyleCnt="4"/>
      <dgm:spPr/>
      <dgm:t>
        <a:bodyPr/>
        <a:lstStyle/>
        <a:p>
          <a:endParaRPr lang="en-US"/>
        </a:p>
      </dgm:t>
    </dgm:pt>
    <dgm:pt modelId="{96725DD2-F2D1-4753-A5DF-480A33E9C88F}" type="pres">
      <dgm:prSet presAssocID="{9B632B0D-A4B1-4F95-B775-D635C57CBEF2}" presName="connectorText" presStyleLbl="sibTrans2D1" presStyleIdx="3" presStyleCnt="4"/>
      <dgm:spPr/>
      <dgm:t>
        <a:bodyPr/>
        <a:lstStyle/>
        <a:p>
          <a:endParaRPr lang="en-US"/>
        </a:p>
      </dgm:t>
    </dgm:pt>
  </dgm:ptLst>
  <dgm:cxnLst>
    <dgm:cxn modelId="{2ACF3FEC-574E-4F17-B734-0D063C8F58A2}" type="presOf" srcId="{E329069C-ACF5-4B8D-8C43-9CDC1AB98F01}" destId="{60FDCDAE-4340-4EC3-AC37-00B47869FD99}" srcOrd="1" destOrd="0" presId="urn:microsoft.com/office/officeart/2005/8/layout/cycle2"/>
    <dgm:cxn modelId="{59E12A1E-F022-4AFC-9328-11EC160C42D3}" type="presOf" srcId="{A9FA3206-A4A9-46D2-B159-28CF967BC42D}" destId="{12CC5DA8-8CC2-4DBC-8A0C-F6E57FB47F19}" srcOrd="0" destOrd="0" presId="urn:microsoft.com/office/officeart/2005/8/layout/cycle2"/>
    <dgm:cxn modelId="{5A954D70-7996-404F-9D64-0486EAB103B6}" type="presOf" srcId="{50CF23FE-B83F-47BB-BE6A-917BE7D49109}" destId="{39D0DAD7-6A69-44A2-8556-B836C694A4EA}" srcOrd="0" destOrd="0" presId="urn:microsoft.com/office/officeart/2005/8/layout/cycle2"/>
    <dgm:cxn modelId="{849F6419-2B4E-4C35-8E31-64E7DDBEABC2}" type="presOf" srcId="{F47D1951-54F2-405F-84B2-6EDEED5F1711}" destId="{CD315C1D-3F0D-4D0B-82DB-E2DED51D3530}" srcOrd="0" destOrd="0" presId="urn:microsoft.com/office/officeart/2005/8/layout/cycle2"/>
    <dgm:cxn modelId="{4495FDF9-B3E4-44D2-81D0-A040A2A3F4C7}" type="presOf" srcId="{9B632B0D-A4B1-4F95-B775-D635C57CBEF2}" destId="{7FF19945-4972-4C0B-9A9C-C4700FC2F681}" srcOrd="0" destOrd="0" presId="urn:microsoft.com/office/officeart/2005/8/layout/cycle2"/>
    <dgm:cxn modelId="{DF1B948A-9CA6-4A29-B72E-D4A9561EBFE0}" type="presOf" srcId="{558D4486-ABB5-4918-AC9D-E186A058D1F6}" destId="{8893098F-83D7-45F8-B7D2-3F7CEBE6EAA5}" srcOrd="0" destOrd="0" presId="urn:microsoft.com/office/officeart/2005/8/layout/cycle2"/>
    <dgm:cxn modelId="{8E5BC00C-1989-4E50-8355-5DD42E0543B5}" type="presOf" srcId="{F20CFBBD-A742-4869-BFC8-1D46D3CD1EA3}" destId="{EF543150-24AC-43D5-9009-9FB03C6536FE}" srcOrd="1" destOrd="0" presId="urn:microsoft.com/office/officeart/2005/8/layout/cycle2"/>
    <dgm:cxn modelId="{5D1E4A3B-B901-4E5F-8286-9EAECD478480}" type="presOf" srcId="{56971523-9889-4780-B764-719488C16E2B}" destId="{4FD77354-E531-4BF2-9341-D591D180B0B8}" srcOrd="0" destOrd="0" presId="urn:microsoft.com/office/officeart/2005/8/layout/cycle2"/>
    <dgm:cxn modelId="{2C733922-DEDC-4077-8152-D4C6BC594071}" srcId="{56971523-9889-4780-B764-719488C16E2B}" destId="{558D4486-ABB5-4918-AC9D-E186A058D1F6}" srcOrd="2" destOrd="0" parTransId="{5B7D4B98-3123-4DBC-8A97-A60A063322BF}" sibTransId="{F20CFBBD-A742-4869-BFC8-1D46D3CD1EA3}"/>
    <dgm:cxn modelId="{3EFCB0D4-4459-4B99-AFB6-369DC41CA9B9}" type="presOf" srcId="{F20CFBBD-A742-4869-BFC8-1D46D3CD1EA3}" destId="{C8147AC6-5FE7-4144-94C6-CCB7D859D3C6}" srcOrd="0" destOrd="0" presId="urn:microsoft.com/office/officeart/2005/8/layout/cycle2"/>
    <dgm:cxn modelId="{3AB65B22-3B6E-467C-B7BF-05484146C7A5}" srcId="{56971523-9889-4780-B764-719488C16E2B}" destId="{50CF23FE-B83F-47BB-BE6A-917BE7D49109}" srcOrd="1" destOrd="0" parTransId="{29D7E731-BE44-4BD3-B82B-B53F22A1D3A1}" sibTransId="{E329069C-ACF5-4B8D-8C43-9CDC1AB98F01}"/>
    <dgm:cxn modelId="{B08CA632-6772-4797-A0AB-BC77D4C65F5E}" type="presOf" srcId="{E329069C-ACF5-4B8D-8C43-9CDC1AB98F01}" destId="{B86575A2-6D2A-411E-B1C4-58EF1A63617D}" srcOrd="0" destOrd="0" presId="urn:microsoft.com/office/officeart/2005/8/layout/cycle2"/>
    <dgm:cxn modelId="{4F89A99B-A2D8-4720-B105-A96A45AA381E}" srcId="{56971523-9889-4780-B764-719488C16E2B}" destId="{F9FF722B-B7F0-4A97-BE2A-347E47F2286E}" srcOrd="3" destOrd="0" parTransId="{547D7FB7-A485-4B6E-A5EF-B0953C5A5355}" sibTransId="{9B632B0D-A4B1-4F95-B775-D635C57CBEF2}"/>
    <dgm:cxn modelId="{1BE14D6B-E535-4230-AD5C-EE63F158C6C8}" type="presOf" srcId="{F47D1951-54F2-405F-84B2-6EDEED5F1711}" destId="{03E36D12-1EF2-4D06-BDFC-CA7C86F898F2}" srcOrd="1" destOrd="0" presId="urn:microsoft.com/office/officeart/2005/8/layout/cycle2"/>
    <dgm:cxn modelId="{8C9DC53F-C3F1-4397-88FD-B61696CC6C2B}" type="presOf" srcId="{F9FF722B-B7F0-4A97-BE2A-347E47F2286E}" destId="{FD4C5046-CF8A-4407-9F6E-42CED29D6842}" srcOrd="0" destOrd="0" presId="urn:microsoft.com/office/officeart/2005/8/layout/cycle2"/>
    <dgm:cxn modelId="{5059D30E-7FE3-44C4-846C-D344B888BC15}" srcId="{56971523-9889-4780-B764-719488C16E2B}" destId="{A9FA3206-A4A9-46D2-B159-28CF967BC42D}" srcOrd="0" destOrd="0" parTransId="{ACA37A65-9093-40A3-A05A-7D4667384A37}" sibTransId="{F47D1951-54F2-405F-84B2-6EDEED5F1711}"/>
    <dgm:cxn modelId="{742C6127-4E8E-4110-BBFF-93994865068E}" type="presOf" srcId="{9B632B0D-A4B1-4F95-B775-D635C57CBEF2}" destId="{96725DD2-F2D1-4753-A5DF-480A33E9C88F}" srcOrd="1" destOrd="0" presId="urn:microsoft.com/office/officeart/2005/8/layout/cycle2"/>
    <dgm:cxn modelId="{B48B172A-244A-4D13-BAA1-8BA7F67AF8A7}" type="presParOf" srcId="{4FD77354-E531-4BF2-9341-D591D180B0B8}" destId="{12CC5DA8-8CC2-4DBC-8A0C-F6E57FB47F19}" srcOrd="0" destOrd="0" presId="urn:microsoft.com/office/officeart/2005/8/layout/cycle2"/>
    <dgm:cxn modelId="{817E9CB5-656D-4E34-9866-3B04D8E3068E}" type="presParOf" srcId="{4FD77354-E531-4BF2-9341-D591D180B0B8}" destId="{CD315C1D-3F0D-4D0B-82DB-E2DED51D3530}" srcOrd="1" destOrd="0" presId="urn:microsoft.com/office/officeart/2005/8/layout/cycle2"/>
    <dgm:cxn modelId="{B4F50E4B-F8CC-45F7-B3A1-7AD17DB90F68}" type="presParOf" srcId="{CD315C1D-3F0D-4D0B-82DB-E2DED51D3530}" destId="{03E36D12-1EF2-4D06-BDFC-CA7C86F898F2}" srcOrd="0" destOrd="0" presId="urn:microsoft.com/office/officeart/2005/8/layout/cycle2"/>
    <dgm:cxn modelId="{51D95643-BCB4-40FE-AC7E-266702B1D1F9}" type="presParOf" srcId="{4FD77354-E531-4BF2-9341-D591D180B0B8}" destId="{39D0DAD7-6A69-44A2-8556-B836C694A4EA}" srcOrd="2" destOrd="0" presId="urn:microsoft.com/office/officeart/2005/8/layout/cycle2"/>
    <dgm:cxn modelId="{644A94D7-19F6-420B-BCB5-A5C4D789479C}" type="presParOf" srcId="{4FD77354-E531-4BF2-9341-D591D180B0B8}" destId="{B86575A2-6D2A-411E-B1C4-58EF1A63617D}" srcOrd="3" destOrd="0" presId="urn:microsoft.com/office/officeart/2005/8/layout/cycle2"/>
    <dgm:cxn modelId="{6E2FD4E6-ECD9-4604-B64D-36914DC196E5}" type="presParOf" srcId="{B86575A2-6D2A-411E-B1C4-58EF1A63617D}" destId="{60FDCDAE-4340-4EC3-AC37-00B47869FD99}" srcOrd="0" destOrd="0" presId="urn:microsoft.com/office/officeart/2005/8/layout/cycle2"/>
    <dgm:cxn modelId="{D2C723D5-8C28-4FEB-B530-A15207957BE7}" type="presParOf" srcId="{4FD77354-E531-4BF2-9341-D591D180B0B8}" destId="{8893098F-83D7-45F8-B7D2-3F7CEBE6EAA5}" srcOrd="4" destOrd="0" presId="urn:microsoft.com/office/officeart/2005/8/layout/cycle2"/>
    <dgm:cxn modelId="{78B8FEC4-A603-44D5-8171-C26C08094EEB}" type="presParOf" srcId="{4FD77354-E531-4BF2-9341-D591D180B0B8}" destId="{C8147AC6-5FE7-4144-94C6-CCB7D859D3C6}" srcOrd="5" destOrd="0" presId="urn:microsoft.com/office/officeart/2005/8/layout/cycle2"/>
    <dgm:cxn modelId="{B14C4CB9-8A43-43E1-9A97-BF092B726D7D}" type="presParOf" srcId="{C8147AC6-5FE7-4144-94C6-CCB7D859D3C6}" destId="{EF543150-24AC-43D5-9009-9FB03C6536FE}" srcOrd="0" destOrd="0" presId="urn:microsoft.com/office/officeart/2005/8/layout/cycle2"/>
    <dgm:cxn modelId="{E0863F56-5EF6-4CBF-AC2C-AA2ECEC161C7}" type="presParOf" srcId="{4FD77354-E531-4BF2-9341-D591D180B0B8}" destId="{FD4C5046-CF8A-4407-9F6E-42CED29D6842}" srcOrd="6" destOrd="0" presId="urn:microsoft.com/office/officeart/2005/8/layout/cycle2"/>
    <dgm:cxn modelId="{52C7296B-964C-4D69-B91A-F440A4998C08}" type="presParOf" srcId="{4FD77354-E531-4BF2-9341-D591D180B0B8}" destId="{7FF19945-4972-4C0B-9A9C-C4700FC2F681}" srcOrd="7" destOrd="0" presId="urn:microsoft.com/office/officeart/2005/8/layout/cycle2"/>
    <dgm:cxn modelId="{3A138CF4-BA33-414E-8F54-D14A454DFFC8}" type="presParOf" srcId="{7FF19945-4972-4C0B-9A9C-C4700FC2F681}" destId="{96725DD2-F2D1-4753-A5DF-480A33E9C88F}"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6971523-9889-4780-B764-719488C16E2B}" type="doc">
      <dgm:prSet loTypeId="urn:microsoft.com/office/officeart/2005/8/layout/cycle2" loCatId="cycle" qsTypeId="urn:microsoft.com/office/officeart/2005/8/quickstyle/simple1" qsCatId="simple" csTypeId="urn:microsoft.com/office/officeart/2005/8/colors/colorful1" csCatId="colorful" phldr="1"/>
      <dgm:spPr/>
      <dgm:t>
        <a:bodyPr/>
        <a:lstStyle/>
        <a:p>
          <a:endParaRPr lang="en-US"/>
        </a:p>
      </dgm:t>
    </dgm:pt>
    <dgm:pt modelId="{E53618F5-8658-4EB2-9C34-E8D36AB9B584}">
      <dgm:prSet phldrT="[Text]"/>
      <dgm:spPr/>
      <dgm:t>
        <a:bodyPr/>
        <a:lstStyle/>
        <a:p>
          <a:r>
            <a:rPr lang="en-US" dirty="0" smtClean="0"/>
            <a:t>Customer purchases To Go Container at point of sale or gives cashier token</a:t>
          </a:r>
          <a:endParaRPr lang="en-US" dirty="0"/>
        </a:p>
      </dgm:t>
    </dgm:pt>
    <dgm:pt modelId="{4A990343-A5CF-4BB9-8C19-AD8D029C20CF}" type="parTrans" cxnId="{D896C1EC-0836-47F3-9AF8-41D7AC0F1010}">
      <dgm:prSet/>
      <dgm:spPr/>
      <dgm:t>
        <a:bodyPr/>
        <a:lstStyle/>
        <a:p>
          <a:endParaRPr lang="en-US"/>
        </a:p>
      </dgm:t>
    </dgm:pt>
    <dgm:pt modelId="{3A535D6B-DAB9-44D7-8FFD-91E8808D5511}" type="sibTrans" cxnId="{D896C1EC-0836-47F3-9AF8-41D7AC0F1010}">
      <dgm:prSet/>
      <dgm:spPr/>
      <dgm:t>
        <a:bodyPr/>
        <a:lstStyle/>
        <a:p>
          <a:endParaRPr lang="en-US"/>
        </a:p>
      </dgm:t>
    </dgm:pt>
    <dgm:pt modelId="{558D4486-ABB5-4918-AC9D-E186A058D1F6}">
      <dgm:prSet phldrT="[Text]" custT="1"/>
      <dgm:spPr/>
      <dgm:t>
        <a:bodyPr/>
        <a:lstStyle/>
        <a:p>
          <a:r>
            <a:rPr lang="en-US" sz="1600" dirty="0" smtClean="0"/>
            <a:t>Turns in to go container to Ozzi machine </a:t>
          </a:r>
          <a:endParaRPr lang="en-US" sz="1600" dirty="0"/>
        </a:p>
      </dgm:t>
    </dgm:pt>
    <dgm:pt modelId="{5B7D4B98-3123-4DBC-8A97-A60A063322BF}" type="parTrans" cxnId="{2C733922-DEDC-4077-8152-D4C6BC594071}">
      <dgm:prSet/>
      <dgm:spPr/>
      <dgm:t>
        <a:bodyPr/>
        <a:lstStyle/>
        <a:p>
          <a:endParaRPr lang="en-US"/>
        </a:p>
      </dgm:t>
    </dgm:pt>
    <dgm:pt modelId="{F20CFBBD-A742-4869-BFC8-1D46D3CD1EA3}" type="sibTrans" cxnId="{2C733922-DEDC-4077-8152-D4C6BC594071}">
      <dgm:prSet/>
      <dgm:spPr/>
      <dgm:t>
        <a:bodyPr/>
        <a:lstStyle/>
        <a:p>
          <a:endParaRPr lang="en-US"/>
        </a:p>
      </dgm:t>
    </dgm:pt>
    <dgm:pt modelId="{F9FF722B-B7F0-4A97-BE2A-347E47F2286E}">
      <dgm:prSet phldrT="[Text]" custT="1"/>
      <dgm:spPr/>
      <dgm:t>
        <a:bodyPr/>
        <a:lstStyle/>
        <a:p>
          <a:r>
            <a:rPr lang="en-US" sz="1600" dirty="0" smtClean="0"/>
            <a:t>Gets an Ozzi token</a:t>
          </a:r>
          <a:endParaRPr lang="en-US" sz="1600" dirty="0"/>
        </a:p>
      </dgm:t>
    </dgm:pt>
    <dgm:pt modelId="{547D7FB7-A485-4B6E-A5EF-B0953C5A5355}" type="parTrans" cxnId="{4F89A99B-A2D8-4720-B105-A96A45AA381E}">
      <dgm:prSet/>
      <dgm:spPr/>
      <dgm:t>
        <a:bodyPr/>
        <a:lstStyle/>
        <a:p>
          <a:endParaRPr lang="en-US"/>
        </a:p>
      </dgm:t>
    </dgm:pt>
    <dgm:pt modelId="{9B632B0D-A4B1-4F95-B775-D635C57CBEF2}" type="sibTrans" cxnId="{4F89A99B-A2D8-4720-B105-A96A45AA381E}">
      <dgm:prSet/>
      <dgm:spPr/>
      <dgm:t>
        <a:bodyPr/>
        <a:lstStyle/>
        <a:p>
          <a:endParaRPr lang="en-US"/>
        </a:p>
      </dgm:t>
    </dgm:pt>
    <dgm:pt modelId="{5DF3DE46-2B8A-495C-98CB-33BACCB1C3A0}">
      <dgm:prSet phldrT="[Text]" custT="1"/>
      <dgm:spPr/>
      <dgm:t>
        <a:bodyPr/>
        <a:lstStyle/>
        <a:p>
          <a:r>
            <a:rPr lang="en-US" sz="1600" dirty="0" smtClean="0"/>
            <a:t>Keeps token until next time</a:t>
          </a:r>
          <a:endParaRPr lang="en-US" sz="1600" dirty="0"/>
        </a:p>
      </dgm:t>
    </dgm:pt>
    <dgm:pt modelId="{F151C8C5-073A-4E16-ABDD-B4E391EA8133}" type="parTrans" cxnId="{4A09203D-02FB-4E00-A5B8-BC6ACD208D68}">
      <dgm:prSet/>
      <dgm:spPr/>
      <dgm:t>
        <a:bodyPr/>
        <a:lstStyle/>
        <a:p>
          <a:endParaRPr lang="en-US"/>
        </a:p>
      </dgm:t>
    </dgm:pt>
    <dgm:pt modelId="{CE80AC5F-33C2-46EF-AE10-6A5F00FBA576}" type="sibTrans" cxnId="{4A09203D-02FB-4E00-A5B8-BC6ACD208D68}">
      <dgm:prSet/>
      <dgm:spPr/>
      <dgm:t>
        <a:bodyPr/>
        <a:lstStyle/>
        <a:p>
          <a:endParaRPr lang="en-US"/>
        </a:p>
      </dgm:t>
    </dgm:pt>
    <dgm:pt modelId="{CBD81663-14CE-4BA9-A039-D98D98E9CAAC}">
      <dgm:prSet phldrT="[Text]" custT="1"/>
      <dgm:spPr/>
      <dgm:t>
        <a:bodyPr/>
        <a:lstStyle/>
        <a:p>
          <a:r>
            <a:rPr lang="en-US" sz="1600" dirty="0" smtClean="0"/>
            <a:t>Orders food in a reusable to go container </a:t>
          </a:r>
          <a:endParaRPr lang="en-US" sz="1600" dirty="0"/>
        </a:p>
      </dgm:t>
    </dgm:pt>
    <dgm:pt modelId="{765AD6BE-3A64-4419-B0E9-6D8C9297C5B1}" type="parTrans" cxnId="{90B298E0-8C0B-4C37-BD36-5CF64A9CB558}">
      <dgm:prSet/>
      <dgm:spPr/>
      <dgm:t>
        <a:bodyPr/>
        <a:lstStyle/>
        <a:p>
          <a:endParaRPr lang="en-US"/>
        </a:p>
      </dgm:t>
    </dgm:pt>
    <dgm:pt modelId="{D60AA5B1-FB6F-4856-BD74-AAFBC6EE7289}" type="sibTrans" cxnId="{90B298E0-8C0B-4C37-BD36-5CF64A9CB558}">
      <dgm:prSet/>
      <dgm:spPr/>
      <dgm:t>
        <a:bodyPr/>
        <a:lstStyle/>
        <a:p>
          <a:endParaRPr lang="en-US"/>
        </a:p>
      </dgm:t>
    </dgm:pt>
    <dgm:pt modelId="{4FD77354-E531-4BF2-9341-D591D180B0B8}" type="pres">
      <dgm:prSet presAssocID="{56971523-9889-4780-B764-719488C16E2B}" presName="cycle" presStyleCnt="0">
        <dgm:presLayoutVars>
          <dgm:dir/>
          <dgm:resizeHandles val="exact"/>
        </dgm:presLayoutVars>
      </dgm:prSet>
      <dgm:spPr/>
      <dgm:t>
        <a:bodyPr/>
        <a:lstStyle/>
        <a:p>
          <a:endParaRPr lang="en-US"/>
        </a:p>
      </dgm:t>
    </dgm:pt>
    <dgm:pt modelId="{9362E83E-742F-432A-8FA0-A56F896252F1}" type="pres">
      <dgm:prSet presAssocID="{E53618F5-8658-4EB2-9C34-E8D36AB9B584}" presName="node" presStyleLbl="node1" presStyleIdx="0" presStyleCnt="5">
        <dgm:presLayoutVars>
          <dgm:bulletEnabled val="1"/>
        </dgm:presLayoutVars>
      </dgm:prSet>
      <dgm:spPr/>
      <dgm:t>
        <a:bodyPr/>
        <a:lstStyle/>
        <a:p>
          <a:endParaRPr lang="en-US"/>
        </a:p>
      </dgm:t>
    </dgm:pt>
    <dgm:pt modelId="{781B86CC-1E05-4A66-AFCA-7E89471B8AE6}" type="pres">
      <dgm:prSet presAssocID="{3A535D6B-DAB9-44D7-8FFD-91E8808D5511}" presName="sibTrans" presStyleLbl="sibTrans2D1" presStyleIdx="0" presStyleCnt="5"/>
      <dgm:spPr/>
      <dgm:t>
        <a:bodyPr/>
        <a:lstStyle/>
        <a:p>
          <a:endParaRPr lang="en-US"/>
        </a:p>
      </dgm:t>
    </dgm:pt>
    <dgm:pt modelId="{0ABBD6C1-04C7-4292-A927-3AFF1A1A1AC7}" type="pres">
      <dgm:prSet presAssocID="{3A535D6B-DAB9-44D7-8FFD-91E8808D5511}" presName="connectorText" presStyleLbl="sibTrans2D1" presStyleIdx="0" presStyleCnt="5"/>
      <dgm:spPr/>
      <dgm:t>
        <a:bodyPr/>
        <a:lstStyle/>
        <a:p>
          <a:endParaRPr lang="en-US"/>
        </a:p>
      </dgm:t>
    </dgm:pt>
    <dgm:pt modelId="{8893098F-83D7-45F8-B7D2-3F7CEBE6EAA5}" type="pres">
      <dgm:prSet presAssocID="{558D4486-ABB5-4918-AC9D-E186A058D1F6}" presName="node" presStyleLbl="node1" presStyleIdx="1" presStyleCnt="5">
        <dgm:presLayoutVars>
          <dgm:bulletEnabled val="1"/>
        </dgm:presLayoutVars>
      </dgm:prSet>
      <dgm:spPr/>
      <dgm:t>
        <a:bodyPr/>
        <a:lstStyle/>
        <a:p>
          <a:endParaRPr lang="en-US"/>
        </a:p>
      </dgm:t>
    </dgm:pt>
    <dgm:pt modelId="{C8147AC6-5FE7-4144-94C6-CCB7D859D3C6}" type="pres">
      <dgm:prSet presAssocID="{F20CFBBD-A742-4869-BFC8-1D46D3CD1EA3}" presName="sibTrans" presStyleLbl="sibTrans2D1" presStyleIdx="1" presStyleCnt="5"/>
      <dgm:spPr/>
      <dgm:t>
        <a:bodyPr/>
        <a:lstStyle/>
        <a:p>
          <a:endParaRPr lang="en-US"/>
        </a:p>
      </dgm:t>
    </dgm:pt>
    <dgm:pt modelId="{EF543150-24AC-43D5-9009-9FB03C6536FE}" type="pres">
      <dgm:prSet presAssocID="{F20CFBBD-A742-4869-BFC8-1D46D3CD1EA3}" presName="connectorText" presStyleLbl="sibTrans2D1" presStyleIdx="1" presStyleCnt="5"/>
      <dgm:spPr/>
      <dgm:t>
        <a:bodyPr/>
        <a:lstStyle/>
        <a:p>
          <a:endParaRPr lang="en-US"/>
        </a:p>
      </dgm:t>
    </dgm:pt>
    <dgm:pt modelId="{FD4C5046-CF8A-4407-9F6E-42CED29D6842}" type="pres">
      <dgm:prSet presAssocID="{F9FF722B-B7F0-4A97-BE2A-347E47F2286E}" presName="node" presStyleLbl="node1" presStyleIdx="2" presStyleCnt="5">
        <dgm:presLayoutVars>
          <dgm:bulletEnabled val="1"/>
        </dgm:presLayoutVars>
      </dgm:prSet>
      <dgm:spPr/>
      <dgm:t>
        <a:bodyPr/>
        <a:lstStyle/>
        <a:p>
          <a:endParaRPr lang="en-US"/>
        </a:p>
      </dgm:t>
    </dgm:pt>
    <dgm:pt modelId="{7FF19945-4972-4C0B-9A9C-C4700FC2F681}" type="pres">
      <dgm:prSet presAssocID="{9B632B0D-A4B1-4F95-B775-D635C57CBEF2}" presName="sibTrans" presStyleLbl="sibTrans2D1" presStyleIdx="2" presStyleCnt="5"/>
      <dgm:spPr/>
      <dgm:t>
        <a:bodyPr/>
        <a:lstStyle/>
        <a:p>
          <a:endParaRPr lang="en-US"/>
        </a:p>
      </dgm:t>
    </dgm:pt>
    <dgm:pt modelId="{96725DD2-F2D1-4753-A5DF-480A33E9C88F}" type="pres">
      <dgm:prSet presAssocID="{9B632B0D-A4B1-4F95-B775-D635C57CBEF2}" presName="connectorText" presStyleLbl="sibTrans2D1" presStyleIdx="2" presStyleCnt="5"/>
      <dgm:spPr/>
      <dgm:t>
        <a:bodyPr/>
        <a:lstStyle/>
        <a:p>
          <a:endParaRPr lang="en-US"/>
        </a:p>
      </dgm:t>
    </dgm:pt>
    <dgm:pt modelId="{3E53DC52-BF6C-4D09-A952-096AF435A05D}" type="pres">
      <dgm:prSet presAssocID="{5DF3DE46-2B8A-495C-98CB-33BACCB1C3A0}" presName="node" presStyleLbl="node1" presStyleIdx="3" presStyleCnt="5">
        <dgm:presLayoutVars>
          <dgm:bulletEnabled val="1"/>
        </dgm:presLayoutVars>
      </dgm:prSet>
      <dgm:spPr/>
      <dgm:t>
        <a:bodyPr/>
        <a:lstStyle/>
        <a:p>
          <a:endParaRPr lang="en-US"/>
        </a:p>
      </dgm:t>
    </dgm:pt>
    <dgm:pt modelId="{586EE9EC-0800-4E65-B4B6-A6D5E1E12A5D}" type="pres">
      <dgm:prSet presAssocID="{CE80AC5F-33C2-46EF-AE10-6A5F00FBA576}" presName="sibTrans" presStyleLbl="sibTrans2D1" presStyleIdx="3" presStyleCnt="5"/>
      <dgm:spPr/>
      <dgm:t>
        <a:bodyPr/>
        <a:lstStyle/>
        <a:p>
          <a:endParaRPr lang="en-US"/>
        </a:p>
      </dgm:t>
    </dgm:pt>
    <dgm:pt modelId="{302B0A0A-8E98-412B-9755-3F526261B092}" type="pres">
      <dgm:prSet presAssocID="{CE80AC5F-33C2-46EF-AE10-6A5F00FBA576}" presName="connectorText" presStyleLbl="sibTrans2D1" presStyleIdx="3" presStyleCnt="5"/>
      <dgm:spPr/>
      <dgm:t>
        <a:bodyPr/>
        <a:lstStyle/>
        <a:p>
          <a:endParaRPr lang="en-US"/>
        </a:p>
      </dgm:t>
    </dgm:pt>
    <dgm:pt modelId="{00EBCCBA-23BE-4107-9BF8-827CA176933F}" type="pres">
      <dgm:prSet presAssocID="{CBD81663-14CE-4BA9-A039-D98D98E9CAAC}" presName="node" presStyleLbl="node1" presStyleIdx="4" presStyleCnt="5">
        <dgm:presLayoutVars>
          <dgm:bulletEnabled val="1"/>
        </dgm:presLayoutVars>
      </dgm:prSet>
      <dgm:spPr/>
      <dgm:t>
        <a:bodyPr/>
        <a:lstStyle/>
        <a:p>
          <a:endParaRPr lang="en-US"/>
        </a:p>
      </dgm:t>
    </dgm:pt>
    <dgm:pt modelId="{BB7EBF1E-02F6-4953-88C5-D1BCD2655E2C}" type="pres">
      <dgm:prSet presAssocID="{D60AA5B1-FB6F-4856-BD74-AAFBC6EE7289}" presName="sibTrans" presStyleLbl="sibTrans2D1" presStyleIdx="4" presStyleCnt="5"/>
      <dgm:spPr/>
      <dgm:t>
        <a:bodyPr/>
        <a:lstStyle/>
        <a:p>
          <a:endParaRPr lang="en-US"/>
        </a:p>
      </dgm:t>
    </dgm:pt>
    <dgm:pt modelId="{CD5F3AA4-04B7-48B4-96C0-EB10BC585D34}" type="pres">
      <dgm:prSet presAssocID="{D60AA5B1-FB6F-4856-BD74-AAFBC6EE7289}" presName="connectorText" presStyleLbl="sibTrans2D1" presStyleIdx="4" presStyleCnt="5"/>
      <dgm:spPr/>
      <dgm:t>
        <a:bodyPr/>
        <a:lstStyle/>
        <a:p>
          <a:endParaRPr lang="en-US"/>
        </a:p>
      </dgm:t>
    </dgm:pt>
  </dgm:ptLst>
  <dgm:cxnLst>
    <dgm:cxn modelId="{4A09203D-02FB-4E00-A5B8-BC6ACD208D68}" srcId="{56971523-9889-4780-B764-719488C16E2B}" destId="{5DF3DE46-2B8A-495C-98CB-33BACCB1C3A0}" srcOrd="3" destOrd="0" parTransId="{F151C8C5-073A-4E16-ABDD-B4E391EA8133}" sibTransId="{CE80AC5F-33C2-46EF-AE10-6A5F00FBA576}"/>
    <dgm:cxn modelId="{708D5AD3-643C-4137-8C01-079D3D46F951}" type="presOf" srcId="{3A535D6B-DAB9-44D7-8FFD-91E8808D5511}" destId="{0ABBD6C1-04C7-4292-A927-3AFF1A1A1AC7}" srcOrd="1" destOrd="0" presId="urn:microsoft.com/office/officeart/2005/8/layout/cycle2"/>
    <dgm:cxn modelId="{4F56FABE-5336-45C0-BE19-72EA9797C1A5}" type="presOf" srcId="{9B632B0D-A4B1-4F95-B775-D635C57CBEF2}" destId="{96725DD2-F2D1-4753-A5DF-480A33E9C88F}" srcOrd="1" destOrd="0" presId="urn:microsoft.com/office/officeart/2005/8/layout/cycle2"/>
    <dgm:cxn modelId="{853BCD2A-1331-467C-84E8-BFBE955A078D}" type="presOf" srcId="{CE80AC5F-33C2-46EF-AE10-6A5F00FBA576}" destId="{586EE9EC-0800-4E65-B4B6-A6D5E1E12A5D}" srcOrd="0" destOrd="0" presId="urn:microsoft.com/office/officeart/2005/8/layout/cycle2"/>
    <dgm:cxn modelId="{03958AE5-7CC1-4C88-A66D-723C69FA7022}" type="presOf" srcId="{3A535D6B-DAB9-44D7-8FFD-91E8808D5511}" destId="{781B86CC-1E05-4A66-AFCA-7E89471B8AE6}" srcOrd="0" destOrd="0" presId="urn:microsoft.com/office/officeart/2005/8/layout/cycle2"/>
    <dgm:cxn modelId="{D896C1EC-0836-47F3-9AF8-41D7AC0F1010}" srcId="{56971523-9889-4780-B764-719488C16E2B}" destId="{E53618F5-8658-4EB2-9C34-E8D36AB9B584}" srcOrd="0" destOrd="0" parTransId="{4A990343-A5CF-4BB9-8C19-AD8D029C20CF}" sibTransId="{3A535D6B-DAB9-44D7-8FFD-91E8808D5511}"/>
    <dgm:cxn modelId="{9A6841E4-C08E-49E5-88CA-6F6E2382851E}" type="presOf" srcId="{558D4486-ABB5-4918-AC9D-E186A058D1F6}" destId="{8893098F-83D7-45F8-B7D2-3F7CEBE6EAA5}" srcOrd="0" destOrd="0" presId="urn:microsoft.com/office/officeart/2005/8/layout/cycle2"/>
    <dgm:cxn modelId="{9516D178-B43E-49F7-A960-8128CB896CED}" type="presOf" srcId="{F20CFBBD-A742-4869-BFC8-1D46D3CD1EA3}" destId="{EF543150-24AC-43D5-9009-9FB03C6536FE}" srcOrd="1" destOrd="0" presId="urn:microsoft.com/office/officeart/2005/8/layout/cycle2"/>
    <dgm:cxn modelId="{01FBA629-4AC1-4FFC-819C-4BA1F68F2D1F}" type="presOf" srcId="{F9FF722B-B7F0-4A97-BE2A-347E47F2286E}" destId="{FD4C5046-CF8A-4407-9F6E-42CED29D6842}" srcOrd="0" destOrd="0" presId="urn:microsoft.com/office/officeart/2005/8/layout/cycle2"/>
    <dgm:cxn modelId="{612A6537-13F0-4D7B-A8BC-C6CED1EDCF5C}" type="presOf" srcId="{F20CFBBD-A742-4869-BFC8-1D46D3CD1EA3}" destId="{C8147AC6-5FE7-4144-94C6-CCB7D859D3C6}" srcOrd="0" destOrd="0" presId="urn:microsoft.com/office/officeart/2005/8/layout/cycle2"/>
    <dgm:cxn modelId="{27234FDF-A214-4D63-9CA2-2137824BE7A7}" type="presOf" srcId="{D60AA5B1-FB6F-4856-BD74-AAFBC6EE7289}" destId="{CD5F3AA4-04B7-48B4-96C0-EB10BC585D34}" srcOrd="1" destOrd="0" presId="urn:microsoft.com/office/officeart/2005/8/layout/cycle2"/>
    <dgm:cxn modelId="{C01A0E99-9A82-4818-A2D0-951B8DF15EB0}" type="presOf" srcId="{E53618F5-8658-4EB2-9C34-E8D36AB9B584}" destId="{9362E83E-742F-432A-8FA0-A56F896252F1}" srcOrd="0" destOrd="0" presId="urn:microsoft.com/office/officeart/2005/8/layout/cycle2"/>
    <dgm:cxn modelId="{2C733922-DEDC-4077-8152-D4C6BC594071}" srcId="{56971523-9889-4780-B764-719488C16E2B}" destId="{558D4486-ABB5-4918-AC9D-E186A058D1F6}" srcOrd="1" destOrd="0" parTransId="{5B7D4B98-3123-4DBC-8A97-A60A063322BF}" sibTransId="{F20CFBBD-A742-4869-BFC8-1D46D3CD1EA3}"/>
    <dgm:cxn modelId="{B1AF0648-2294-4386-A0F9-F2E82CA4D1A0}" type="presOf" srcId="{5DF3DE46-2B8A-495C-98CB-33BACCB1C3A0}" destId="{3E53DC52-BF6C-4D09-A952-096AF435A05D}" srcOrd="0" destOrd="0" presId="urn:microsoft.com/office/officeart/2005/8/layout/cycle2"/>
    <dgm:cxn modelId="{53463257-5FF7-46EE-B53F-EE4CAD0B93EC}" type="presOf" srcId="{CE80AC5F-33C2-46EF-AE10-6A5F00FBA576}" destId="{302B0A0A-8E98-412B-9755-3F526261B092}" srcOrd="1" destOrd="0" presId="urn:microsoft.com/office/officeart/2005/8/layout/cycle2"/>
    <dgm:cxn modelId="{4F89A99B-A2D8-4720-B105-A96A45AA381E}" srcId="{56971523-9889-4780-B764-719488C16E2B}" destId="{F9FF722B-B7F0-4A97-BE2A-347E47F2286E}" srcOrd="2" destOrd="0" parTransId="{547D7FB7-A485-4B6E-A5EF-B0953C5A5355}" sibTransId="{9B632B0D-A4B1-4F95-B775-D635C57CBEF2}"/>
    <dgm:cxn modelId="{98A70981-91E0-4F45-A3C4-BAB58C24B428}" type="presOf" srcId="{56971523-9889-4780-B764-719488C16E2B}" destId="{4FD77354-E531-4BF2-9341-D591D180B0B8}" srcOrd="0" destOrd="0" presId="urn:microsoft.com/office/officeart/2005/8/layout/cycle2"/>
    <dgm:cxn modelId="{19A353B5-862C-42F3-91A9-305B6EA4E7E7}" type="presOf" srcId="{CBD81663-14CE-4BA9-A039-D98D98E9CAAC}" destId="{00EBCCBA-23BE-4107-9BF8-827CA176933F}" srcOrd="0" destOrd="0" presId="urn:microsoft.com/office/officeart/2005/8/layout/cycle2"/>
    <dgm:cxn modelId="{90B298E0-8C0B-4C37-BD36-5CF64A9CB558}" srcId="{56971523-9889-4780-B764-719488C16E2B}" destId="{CBD81663-14CE-4BA9-A039-D98D98E9CAAC}" srcOrd="4" destOrd="0" parTransId="{765AD6BE-3A64-4419-B0E9-6D8C9297C5B1}" sibTransId="{D60AA5B1-FB6F-4856-BD74-AAFBC6EE7289}"/>
    <dgm:cxn modelId="{0ADE6BB0-3F2E-4AC5-B5B2-77D03320F83C}" type="presOf" srcId="{9B632B0D-A4B1-4F95-B775-D635C57CBEF2}" destId="{7FF19945-4972-4C0B-9A9C-C4700FC2F681}" srcOrd="0" destOrd="0" presId="urn:microsoft.com/office/officeart/2005/8/layout/cycle2"/>
    <dgm:cxn modelId="{9462CCA4-AA2D-4E98-BDD8-7C1FC311DED0}" type="presOf" srcId="{D60AA5B1-FB6F-4856-BD74-AAFBC6EE7289}" destId="{BB7EBF1E-02F6-4953-88C5-D1BCD2655E2C}" srcOrd="0" destOrd="0" presId="urn:microsoft.com/office/officeart/2005/8/layout/cycle2"/>
    <dgm:cxn modelId="{C6CC04A5-5647-44E4-963B-EF1F37F6634D}" type="presParOf" srcId="{4FD77354-E531-4BF2-9341-D591D180B0B8}" destId="{9362E83E-742F-432A-8FA0-A56F896252F1}" srcOrd="0" destOrd="0" presId="urn:microsoft.com/office/officeart/2005/8/layout/cycle2"/>
    <dgm:cxn modelId="{94262898-0B69-4A51-B0D1-2C1AD3DBC455}" type="presParOf" srcId="{4FD77354-E531-4BF2-9341-D591D180B0B8}" destId="{781B86CC-1E05-4A66-AFCA-7E89471B8AE6}" srcOrd="1" destOrd="0" presId="urn:microsoft.com/office/officeart/2005/8/layout/cycle2"/>
    <dgm:cxn modelId="{D10A6EED-EC3B-4086-8FB8-6BDE8986C392}" type="presParOf" srcId="{781B86CC-1E05-4A66-AFCA-7E89471B8AE6}" destId="{0ABBD6C1-04C7-4292-A927-3AFF1A1A1AC7}" srcOrd="0" destOrd="0" presId="urn:microsoft.com/office/officeart/2005/8/layout/cycle2"/>
    <dgm:cxn modelId="{B1024DB3-C9B6-4B87-BA08-36CC88643500}" type="presParOf" srcId="{4FD77354-E531-4BF2-9341-D591D180B0B8}" destId="{8893098F-83D7-45F8-B7D2-3F7CEBE6EAA5}" srcOrd="2" destOrd="0" presId="urn:microsoft.com/office/officeart/2005/8/layout/cycle2"/>
    <dgm:cxn modelId="{D19CF36F-EA14-456F-A391-7D736E999BB1}" type="presParOf" srcId="{4FD77354-E531-4BF2-9341-D591D180B0B8}" destId="{C8147AC6-5FE7-4144-94C6-CCB7D859D3C6}" srcOrd="3" destOrd="0" presId="urn:microsoft.com/office/officeart/2005/8/layout/cycle2"/>
    <dgm:cxn modelId="{F5EFDACD-53C7-4A87-9B5F-08333EF0289E}" type="presParOf" srcId="{C8147AC6-5FE7-4144-94C6-CCB7D859D3C6}" destId="{EF543150-24AC-43D5-9009-9FB03C6536FE}" srcOrd="0" destOrd="0" presId="urn:microsoft.com/office/officeart/2005/8/layout/cycle2"/>
    <dgm:cxn modelId="{8BBB88B7-7F2A-47D9-9E5C-88E02ED1727B}" type="presParOf" srcId="{4FD77354-E531-4BF2-9341-D591D180B0B8}" destId="{FD4C5046-CF8A-4407-9F6E-42CED29D6842}" srcOrd="4" destOrd="0" presId="urn:microsoft.com/office/officeart/2005/8/layout/cycle2"/>
    <dgm:cxn modelId="{03C07037-8802-42C0-9466-59D9E663842A}" type="presParOf" srcId="{4FD77354-E531-4BF2-9341-D591D180B0B8}" destId="{7FF19945-4972-4C0B-9A9C-C4700FC2F681}" srcOrd="5" destOrd="0" presId="urn:microsoft.com/office/officeart/2005/8/layout/cycle2"/>
    <dgm:cxn modelId="{7ACB9966-45F3-4E67-AC27-9AAD0684C3CF}" type="presParOf" srcId="{7FF19945-4972-4C0B-9A9C-C4700FC2F681}" destId="{96725DD2-F2D1-4753-A5DF-480A33E9C88F}" srcOrd="0" destOrd="0" presId="urn:microsoft.com/office/officeart/2005/8/layout/cycle2"/>
    <dgm:cxn modelId="{288E96E1-367B-4D1E-84E6-1DE17FB00DCE}" type="presParOf" srcId="{4FD77354-E531-4BF2-9341-D591D180B0B8}" destId="{3E53DC52-BF6C-4D09-A952-096AF435A05D}" srcOrd="6" destOrd="0" presId="urn:microsoft.com/office/officeart/2005/8/layout/cycle2"/>
    <dgm:cxn modelId="{4CB3AF9F-20A1-4ADE-B172-87197F61446F}" type="presParOf" srcId="{4FD77354-E531-4BF2-9341-D591D180B0B8}" destId="{586EE9EC-0800-4E65-B4B6-A6D5E1E12A5D}" srcOrd="7" destOrd="0" presId="urn:microsoft.com/office/officeart/2005/8/layout/cycle2"/>
    <dgm:cxn modelId="{5898735A-3206-4A98-BCA2-51B1D282AD27}" type="presParOf" srcId="{586EE9EC-0800-4E65-B4B6-A6D5E1E12A5D}" destId="{302B0A0A-8E98-412B-9755-3F526261B092}" srcOrd="0" destOrd="0" presId="urn:microsoft.com/office/officeart/2005/8/layout/cycle2"/>
    <dgm:cxn modelId="{DBD3E488-B61B-4631-862F-225DD932D168}" type="presParOf" srcId="{4FD77354-E531-4BF2-9341-D591D180B0B8}" destId="{00EBCCBA-23BE-4107-9BF8-827CA176933F}" srcOrd="8" destOrd="0" presId="urn:microsoft.com/office/officeart/2005/8/layout/cycle2"/>
    <dgm:cxn modelId="{BAA74FF6-276A-482A-A12A-45E4BDE972A9}" type="presParOf" srcId="{4FD77354-E531-4BF2-9341-D591D180B0B8}" destId="{BB7EBF1E-02F6-4953-88C5-D1BCD2655E2C}" srcOrd="9" destOrd="0" presId="urn:microsoft.com/office/officeart/2005/8/layout/cycle2"/>
    <dgm:cxn modelId="{F8201B2C-A483-47D9-98FE-56AACA66E6B8}" type="presParOf" srcId="{BB7EBF1E-02F6-4953-88C5-D1BCD2655E2C}" destId="{CD5F3AA4-04B7-48B4-96C0-EB10BC585D34}"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029282" cy="35195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265014" y="0"/>
            <a:ext cx="4029282" cy="351957"/>
          </a:xfrm>
          <a:prstGeom prst="rect">
            <a:avLst/>
          </a:prstGeom>
        </p:spPr>
        <p:txBody>
          <a:bodyPr vert="horz" lIns="91440" tIns="45720" rIns="91440" bIns="45720" rtlCol="0"/>
          <a:lstStyle>
            <a:lvl1pPr algn="r">
              <a:defRPr sz="1200"/>
            </a:lvl1pPr>
          </a:lstStyle>
          <a:p>
            <a:fld id="{A833FE02-200C-402A-B3C3-35F86783DCE4}" type="datetimeFigureOut">
              <a:rPr lang="en-US" smtClean="0"/>
              <a:t>8/12/2016</a:t>
            </a:fld>
            <a:endParaRPr lang="en-US"/>
          </a:p>
        </p:txBody>
      </p:sp>
      <p:sp>
        <p:nvSpPr>
          <p:cNvPr id="4" name="Footer Placeholder 3"/>
          <p:cNvSpPr>
            <a:spLocks noGrp="1"/>
          </p:cNvSpPr>
          <p:nvPr>
            <p:ph type="ftr" sz="quarter" idx="2"/>
          </p:nvPr>
        </p:nvSpPr>
        <p:spPr>
          <a:xfrm>
            <a:off x="1" y="6658444"/>
            <a:ext cx="4029282" cy="35195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265014" y="6658444"/>
            <a:ext cx="4029282" cy="351957"/>
          </a:xfrm>
          <a:prstGeom prst="rect">
            <a:avLst/>
          </a:prstGeom>
        </p:spPr>
        <p:txBody>
          <a:bodyPr vert="horz" lIns="91440" tIns="45720" rIns="91440" bIns="45720" rtlCol="0" anchor="b"/>
          <a:lstStyle>
            <a:lvl1pPr algn="r">
              <a:defRPr sz="1200"/>
            </a:lvl1pPr>
          </a:lstStyle>
          <a:p>
            <a:fld id="{0B2A4F72-06B3-4574-96E1-5A90E08BD0FB}" type="slidenum">
              <a:rPr lang="en-US" smtClean="0"/>
              <a:t>‹#›</a:t>
            </a:fld>
            <a:endParaRPr lang="en-US"/>
          </a:p>
        </p:txBody>
      </p:sp>
    </p:spTree>
    <p:extLst>
      <p:ext uri="{BB962C8B-B14F-4D97-AF65-F5344CB8AC3E}">
        <p14:creationId xmlns:p14="http://schemas.microsoft.com/office/powerpoint/2010/main" val="846214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029282" cy="35195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65014" y="0"/>
            <a:ext cx="4029282" cy="351957"/>
          </a:xfrm>
          <a:prstGeom prst="rect">
            <a:avLst/>
          </a:prstGeom>
        </p:spPr>
        <p:txBody>
          <a:bodyPr vert="horz" lIns="91440" tIns="45720" rIns="91440" bIns="45720" rtlCol="0"/>
          <a:lstStyle>
            <a:lvl1pPr algn="r">
              <a:defRPr sz="1200"/>
            </a:lvl1pPr>
          </a:lstStyle>
          <a:p>
            <a:fld id="{DBB4F0FE-3513-4236-BEA5-642E1B304316}" type="datetimeFigureOut">
              <a:rPr lang="en-US" smtClean="0"/>
              <a:t>8/12/2016</a:t>
            </a:fld>
            <a:endParaRPr lang="en-US"/>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30482" y="3373516"/>
            <a:ext cx="7435436" cy="2760584"/>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6658444"/>
            <a:ext cx="4029282" cy="35195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65014" y="6658444"/>
            <a:ext cx="4029282" cy="351957"/>
          </a:xfrm>
          <a:prstGeom prst="rect">
            <a:avLst/>
          </a:prstGeom>
        </p:spPr>
        <p:txBody>
          <a:bodyPr vert="horz" lIns="91440" tIns="45720" rIns="91440" bIns="45720" rtlCol="0" anchor="b"/>
          <a:lstStyle>
            <a:lvl1pPr algn="r">
              <a:defRPr sz="1200"/>
            </a:lvl1pPr>
          </a:lstStyle>
          <a:p>
            <a:fld id="{D9A27B48-76F1-424C-BC89-21E3190E29B4}" type="slidenum">
              <a:rPr lang="en-US" smtClean="0"/>
              <a:t>‹#›</a:t>
            </a:fld>
            <a:endParaRPr lang="en-US"/>
          </a:p>
        </p:txBody>
      </p:sp>
    </p:spTree>
    <p:extLst>
      <p:ext uri="{BB962C8B-B14F-4D97-AF65-F5344CB8AC3E}">
        <p14:creationId xmlns:p14="http://schemas.microsoft.com/office/powerpoint/2010/main" val="590037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1</a:t>
            </a:fld>
            <a:endParaRPr lang="en-US"/>
          </a:p>
        </p:txBody>
      </p:sp>
    </p:spTree>
    <p:extLst>
      <p:ext uri="{BB962C8B-B14F-4D97-AF65-F5344CB8AC3E}">
        <p14:creationId xmlns:p14="http://schemas.microsoft.com/office/powerpoint/2010/main" val="1320999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2</a:t>
            </a:fld>
            <a:endParaRPr lang="en-US"/>
          </a:p>
        </p:txBody>
      </p:sp>
    </p:spTree>
    <p:extLst>
      <p:ext uri="{BB962C8B-B14F-4D97-AF65-F5344CB8AC3E}">
        <p14:creationId xmlns:p14="http://schemas.microsoft.com/office/powerpoint/2010/main" val="418611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3</a:t>
            </a:fld>
            <a:endParaRPr lang="en-US"/>
          </a:p>
        </p:txBody>
      </p:sp>
    </p:spTree>
    <p:extLst>
      <p:ext uri="{BB962C8B-B14F-4D97-AF65-F5344CB8AC3E}">
        <p14:creationId xmlns:p14="http://schemas.microsoft.com/office/powerpoint/2010/main" val="3889918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4</a:t>
            </a:fld>
            <a:endParaRPr lang="en-US"/>
          </a:p>
        </p:txBody>
      </p:sp>
    </p:spTree>
    <p:extLst>
      <p:ext uri="{BB962C8B-B14F-4D97-AF65-F5344CB8AC3E}">
        <p14:creationId xmlns:p14="http://schemas.microsoft.com/office/powerpoint/2010/main" val="1629114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5</a:t>
            </a:fld>
            <a:endParaRPr lang="en-US"/>
          </a:p>
        </p:txBody>
      </p:sp>
    </p:spTree>
    <p:extLst>
      <p:ext uri="{BB962C8B-B14F-4D97-AF65-F5344CB8AC3E}">
        <p14:creationId xmlns:p14="http://schemas.microsoft.com/office/powerpoint/2010/main" val="3058768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6</a:t>
            </a:fld>
            <a:endParaRPr lang="en-US"/>
          </a:p>
        </p:txBody>
      </p:sp>
    </p:spTree>
    <p:extLst>
      <p:ext uri="{BB962C8B-B14F-4D97-AF65-F5344CB8AC3E}">
        <p14:creationId xmlns:p14="http://schemas.microsoft.com/office/powerpoint/2010/main" val="4020903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7</a:t>
            </a:fld>
            <a:endParaRPr lang="en-US"/>
          </a:p>
        </p:txBody>
      </p:sp>
    </p:spTree>
    <p:extLst>
      <p:ext uri="{BB962C8B-B14F-4D97-AF65-F5344CB8AC3E}">
        <p14:creationId xmlns:p14="http://schemas.microsoft.com/office/powerpoint/2010/main" val="22670812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8</a:t>
            </a:fld>
            <a:endParaRPr lang="en-US"/>
          </a:p>
        </p:txBody>
      </p:sp>
    </p:spTree>
    <p:extLst>
      <p:ext uri="{BB962C8B-B14F-4D97-AF65-F5344CB8AC3E}">
        <p14:creationId xmlns:p14="http://schemas.microsoft.com/office/powerpoint/2010/main" val="2066870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9</a:t>
            </a:fld>
            <a:endParaRPr lang="en-US"/>
          </a:p>
        </p:txBody>
      </p:sp>
    </p:spTree>
    <p:extLst>
      <p:ext uri="{BB962C8B-B14F-4D97-AF65-F5344CB8AC3E}">
        <p14:creationId xmlns:p14="http://schemas.microsoft.com/office/powerpoint/2010/main" val="4088617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10</a:t>
            </a:fld>
            <a:endParaRPr lang="en-US"/>
          </a:p>
        </p:txBody>
      </p:sp>
    </p:spTree>
    <p:extLst>
      <p:ext uri="{BB962C8B-B14F-4D97-AF65-F5344CB8AC3E}">
        <p14:creationId xmlns:p14="http://schemas.microsoft.com/office/powerpoint/2010/main" val="533488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11</a:t>
            </a:fld>
            <a:endParaRPr lang="en-US"/>
          </a:p>
        </p:txBody>
      </p:sp>
    </p:spTree>
    <p:extLst>
      <p:ext uri="{BB962C8B-B14F-4D97-AF65-F5344CB8AC3E}">
        <p14:creationId xmlns:p14="http://schemas.microsoft.com/office/powerpoint/2010/main" val="3699794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12</a:t>
            </a:fld>
            <a:endParaRPr lang="en-US"/>
          </a:p>
        </p:txBody>
      </p:sp>
    </p:spTree>
    <p:extLst>
      <p:ext uri="{BB962C8B-B14F-4D97-AF65-F5344CB8AC3E}">
        <p14:creationId xmlns:p14="http://schemas.microsoft.com/office/powerpoint/2010/main" val="12085884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13</a:t>
            </a:fld>
            <a:endParaRPr lang="en-US"/>
          </a:p>
        </p:txBody>
      </p:sp>
    </p:spTree>
    <p:extLst>
      <p:ext uri="{BB962C8B-B14F-4D97-AF65-F5344CB8AC3E}">
        <p14:creationId xmlns:p14="http://schemas.microsoft.com/office/powerpoint/2010/main" val="2542097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14</a:t>
            </a:fld>
            <a:endParaRPr lang="en-US"/>
          </a:p>
        </p:txBody>
      </p:sp>
    </p:spTree>
    <p:extLst>
      <p:ext uri="{BB962C8B-B14F-4D97-AF65-F5344CB8AC3E}">
        <p14:creationId xmlns:p14="http://schemas.microsoft.com/office/powerpoint/2010/main" val="33187339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15</a:t>
            </a:fld>
            <a:endParaRPr lang="en-US"/>
          </a:p>
        </p:txBody>
      </p:sp>
    </p:spTree>
    <p:extLst>
      <p:ext uri="{BB962C8B-B14F-4D97-AF65-F5344CB8AC3E}">
        <p14:creationId xmlns:p14="http://schemas.microsoft.com/office/powerpoint/2010/main" val="35824925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16</a:t>
            </a:fld>
            <a:endParaRPr lang="en-US"/>
          </a:p>
        </p:txBody>
      </p:sp>
    </p:spTree>
    <p:extLst>
      <p:ext uri="{BB962C8B-B14F-4D97-AF65-F5344CB8AC3E}">
        <p14:creationId xmlns:p14="http://schemas.microsoft.com/office/powerpoint/2010/main" val="20830679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17</a:t>
            </a:fld>
            <a:endParaRPr lang="en-US"/>
          </a:p>
        </p:txBody>
      </p:sp>
    </p:spTree>
    <p:extLst>
      <p:ext uri="{BB962C8B-B14F-4D97-AF65-F5344CB8AC3E}">
        <p14:creationId xmlns:p14="http://schemas.microsoft.com/office/powerpoint/2010/main" val="24266501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18</a:t>
            </a:fld>
            <a:endParaRPr lang="en-US"/>
          </a:p>
        </p:txBody>
      </p:sp>
    </p:spTree>
    <p:extLst>
      <p:ext uri="{BB962C8B-B14F-4D97-AF65-F5344CB8AC3E}">
        <p14:creationId xmlns:p14="http://schemas.microsoft.com/office/powerpoint/2010/main" val="37869422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19</a:t>
            </a:fld>
            <a:endParaRPr lang="en-US"/>
          </a:p>
        </p:txBody>
      </p:sp>
    </p:spTree>
    <p:extLst>
      <p:ext uri="{BB962C8B-B14F-4D97-AF65-F5344CB8AC3E}">
        <p14:creationId xmlns:p14="http://schemas.microsoft.com/office/powerpoint/2010/main" val="2863166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20</a:t>
            </a:fld>
            <a:endParaRPr lang="en-US"/>
          </a:p>
        </p:txBody>
      </p:sp>
    </p:spTree>
    <p:extLst>
      <p:ext uri="{BB962C8B-B14F-4D97-AF65-F5344CB8AC3E}">
        <p14:creationId xmlns:p14="http://schemas.microsoft.com/office/powerpoint/2010/main" val="27566766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21</a:t>
            </a:fld>
            <a:endParaRPr lang="en-US"/>
          </a:p>
        </p:txBody>
      </p:sp>
    </p:spTree>
    <p:extLst>
      <p:ext uri="{BB962C8B-B14F-4D97-AF65-F5344CB8AC3E}">
        <p14:creationId xmlns:p14="http://schemas.microsoft.com/office/powerpoint/2010/main" val="5530592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22</a:t>
            </a:fld>
            <a:endParaRPr lang="en-US"/>
          </a:p>
        </p:txBody>
      </p:sp>
    </p:spTree>
    <p:extLst>
      <p:ext uri="{BB962C8B-B14F-4D97-AF65-F5344CB8AC3E}">
        <p14:creationId xmlns:p14="http://schemas.microsoft.com/office/powerpoint/2010/main" val="10907266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23</a:t>
            </a:fld>
            <a:endParaRPr lang="en-US"/>
          </a:p>
        </p:txBody>
      </p:sp>
    </p:spTree>
    <p:extLst>
      <p:ext uri="{BB962C8B-B14F-4D97-AF65-F5344CB8AC3E}">
        <p14:creationId xmlns:p14="http://schemas.microsoft.com/office/powerpoint/2010/main" val="28752269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A27B48-76F1-424C-BC89-21E3190E29B4}" type="slidenum">
              <a:rPr lang="en-US" smtClean="0"/>
              <a:t>24</a:t>
            </a:fld>
            <a:endParaRPr lang="en-US"/>
          </a:p>
        </p:txBody>
      </p:sp>
    </p:spTree>
    <p:extLst>
      <p:ext uri="{BB962C8B-B14F-4D97-AF65-F5344CB8AC3E}">
        <p14:creationId xmlns:p14="http://schemas.microsoft.com/office/powerpoint/2010/main" val="39909559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064C435-5B9C-4C09-96D8-C1C9F339A4FE}" type="datetimeFigureOut">
              <a:rPr lang="en-US" smtClean="0"/>
              <a:t>8/12/2016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1148526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64C435-5B9C-4C09-96D8-C1C9F339A4FE}" type="datetimeFigureOut">
              <a:rPr lang="en-US" smtClean="0"/>
              <a:t>8/12/2016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1715389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64C435-5B9C-4C09-96D8-C1C9F339A4FE}" type="datetimeFigureOut">
              <a:rPr lang="en-US" smtClean="0"/>
              <a:t>8/12/2016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114370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064C435-5B9C-4C09-96D8-C1C9F339A4FE}" type="datetimeFigureOut">
              <a:rPr lang="en-US" smtClean="0"/>
              <a:t>8/12/2016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1622912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064C435-5B9C-4C09-96D8-C1C9F339A4FE}" type="datetimeFigureOut">
              <a:rPr lang="en-US" smtClean="0"/>
              <a:t>8/12/2016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1034661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064C435-5B9C-4C09-96D8-C1C9F339A4FE}" type="datetimeFigureOut">
              <a:rPr lang="en-US" smtClean="0"/>
              <a:t>8/12/2016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1552714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064C435-5B9C-4C09-96D8-C1C9F339A4FE}" type="datetimeFigureOut">
              <a:rPr lang="en-US" smtClean="0"/>
              <a:t>8/12/2016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3636518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64C435-5B9C-4C09-96D8-C1C9F339A4FE}" type="datetimeFigureOut">
              <a:rPr lang="en-US" smtClean="0"/>
              <a:t>8/12/2016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3234266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64C435-5B9C-4C09-96D8-C1C9F339A4FE}" type="datetimeFigureOut">
              <a:rPr lang="en-US" smtClean="0"/>
              <a:t>8/12/2016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270173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64C435-5B9C-4C09-96D8-C1C9F339A4FE}" type="datetimeFigureOut">
              <a:rPr lang="en-US" smtClean="0"/>
              <a:t>8/12/2016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2029698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64C435-5B9C-4C09-96D8-C1C9F339A4FE}" type="datetimeFigureOut">
              <a:rPr lang="en-US" smtClean="0"/>
              <a:t>8/12/2016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1755387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64C435-5B9C-4C09-96D8-C1C9F339A4FE}" type="datetimeFigureOut">
              <a:rPr lang="en-US" smtClean="0"/>
              <a:t>8/12/2016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97D787-76A6-4D21-8360-6C73D35981E2}"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01744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64C435-5B9C-4C09-96D8-C1C9F339A4FE}" type="datetimeFigureOut">
              <a:rPr lang="en-US" smtClean="0"/>
              <a:t>8/12/2016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14123600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064C435-5B9C-4C09-96D8-C1C9F339A4FE}" type="datetimeFigureOut">
              <a:rPr lang="en-US" smtClean="0"/>
              <a:t>8/12/2016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6210795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064C435-5B9C-4C09-96D8-C1C9F339A4FE}" type="datetimeFigureOut">
              <a:rPr lang="en-US" smtClean="0"/>
              <a:t>8/12/2016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23216410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64C435-5B9C-4C09-96D8-C1C9F339A4FE}" type="datetimeFigureOut">
              <a:rPr lang="en-US" smtClean="0"/>
              <a:t>8/12/2016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1253096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64C435-5B9C-4C09-96D8-C1C9F339A4FE}" type="datetimeFigureOut">
              <a:rPr lang="en-US" smtClean="0"/>
              <a:t>8/12/2016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97D787-76A6-4D21-8360-6C73D35981E2}" type="slidenum">
              <a:rPr lang="en-US" smtClean="0"/>
              <a:t>‹#›</a:t>
            </a:fld>
            <a:endParaRPr lang="en-US"/>
          </a:p>
        </p:txBody>
      </p:sp>
    </p:spTree>
    <p:extLst>
      <p:ext uri="{BB962C8B-B14F-4D97-AF65-F5344CB8AC3E}">
        <p14:creationId xmlns:p14="http://schemas.microsoft.com/office/powerpoint/2010/main" val="3198371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064C435-5B9C-4C09-96D8-C1C9F339A4FE}" type="datetimeFigureOut">
              <a:rPr lang="en-US" smtClean="0"/>
              <a:t>8/12/2016</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E97D787-76A6-4D21-8360-6C73D35981E2}" type="slidenum">
              <a:rPr lang="en-US" smtClean="0"/>
              <a:t>‹#›</a:t>
            </a:fld>
            <a:endParaRPr lang="en-US"/>
          </a:p>
        </p:txBody>
      </p:sp>
    </p:spTree>
    <p:extLst>
      <p:ext uri="{BB962C8B-B14F-4D97-AF65-F5344CB8AC3E}">
        <p14:creationId xmlns:p14="http://schemas.microsoft.com/office/powerpoint/2010/main" val="302300504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1524000" y="3602038"/>
            <a:ext cx="9144000" cy="2669670"/>
          </a:xfrm>
        </p:spPr>
        <p:txBody>
          <a:bodyPr>
            <a:normAutofit/>
          </a:bodyPr>
          <a:lstStyle/>
          <a:p>
            <a:endParaRPr lang="en-US" dirty="0" smtClean="0"/>
          </a:p>
          <a:p>
            <a:r>
              <a:rPr lang="en-US" sz="6600" dirty="0" smtClean="0">
                <a:solidFill>
                  <a:srgbClr val="71314C"/>
                </a:solidFill>
                <a:latin typeface="Berlin Sans FB" panose="020E0602020502020306" pitchFamily="34" charset="0"/>
              </a:rPr>
              <a:t>Cashier Training </a:t>
            </a:r>
            <a:endParaRPr lang="en-US" sz="6600" dirty="0">
              <a:solidFill>
                <a:srgbClr val="71314C"/>
              </a:solidFill>
              <a:latin typeface="Berlin Sans FB" panose="020E0602020502020306"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66900" y="979227"/>
            <a:ext cx="8458200" cy="2057400"/>
          </a:xfrm>
          <a:prstGeom prst="rect">
            <a:avLst/>
          </a:prstGeom>
        </p:spPr>
      </p:pic>
    </p:spTree>
    <p:extLst>
      <p:ext uri="{BB962C8B-B14F-4D97-AF65-F5344CB8AC3E}">
        <p14:creationId xmlns:p14="http://schemas.microsoft.com/office/powerpoint/2010/main" val="14179201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869" y="-123760"/>
            <a:ext cx="10364451" cy="1596177"/>
          </a:xfrm>
        </p:spPr>
        <p:txBody>
          <a:bodyPr>
            <a:normAutofit/>
          </a:bodyPr>
          <a:lstStyle/>
          <a:p>
            <a:r>
              <a:rPr lang="en-US" dirty="0" smtClean="0">
                <a:latin typeface="Berlin Sans FB" panose="020E0602020502020306" pitchFamily="34" charset="0"/>
                <a:ea typeface="Tahoma" panose="020B0604030504040204" pitchFamily="34" charset="0"/>
                <a:cs typeface="Tahoma" panose="020B0604030504040204" pitchFamily="34" charset="0"/>
              </a:rPr>
              <a:t>Cashier Expectations </a:t>
            </a:r>
            <a:endParaRPr lang="en-US" dirty="0">
              <a:latin typeface="Berlin Sans FB" panose="020E0602020502020306"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sz="quarter" idx="13"/>
          </p:nvPr>
        </p:nvSpPr>
        <p:spPr>
          <a:xfrm>
            <a:off x="903016" y="1415041"/>
            <a:ext cx="10363826" cy="5442959"/>
          </a:xfrm>
        </p:spPr>
        <p:txBody>
          <a:bodyPr>
            <a:normAutofit/>
          </a:bodyPr>
          <a:lstStyle/>
          <a:p>
            <a:r>
              <a:rPr lang="en-US" sz="1600" cap="none" dirty="0" smtClean="0">
                <a:latin typeface="Tahoma" panose="020B0604030504040204" pitchFamily="34" charset="0"/>
                <a:ea typeface="Tahoma" panose="020B0604030504040204" pitchFamily="34" charset="0"/>
                <a:cs typeface="Tahoma" panose="020B0604030504040204" pitchFamily="34" charset="0"/>
              </a:rPr>
              <a:t>Provide excellent customer service </a:t>
            </a:r>
          </a:p>
          <a:p>
            <a:pPr lvl="1"/>
            <a:r>
              <a:rPr lang="en-US" sz="1500" i="1" cap="none" dirty="0" smtClean="0">
                <a:latin typeface="Tahoma" panose="020B0604030504040204" pitchFamily="34" charset="0"/>
                <a:ea typeface="Tahoma" panose="020B0604030504040204" pitchFamily="34" charset="0"/>
                <a:cs typeface="Tahoma" panose="020B0604030504040204" pitchFamily="34" charset="0"/>
              </a:rPr>
              <a:t>I value every individual’s right to have a quality experience </a:t>
            </a:r>
            <a:r>
              <a:rPr lang="en-US" sz="1500" cap="none" dirty="0" smtClean="0">
                <a:latin typeface="Tahoma" panose="020B0604030504040204" pitchFamily="34" charset="0"/>
                <a:ea typeface="Tahoma" panose="020B0604030504040204" pitchFamily="34" charset="0"/>
                <a:cs typeface="Tahoma" panose="020B0604030504040204" pitchFamily="34" charset="0"/>
              </a:rPr>
              <a:t>– You are usually the first employee that a guest interacts with.  Your goal as a cashier is to start their quality experience with a positive first impression, an upbeat welcome/greeting and by using your manners.  </a:t>
            </a:r>
          </a:p>
          <a:p>
            <a:pPr lvl="2"/>
            <a:r>
              <a:rPr lang="en-US" sz="1500" cap="none" dirty="0" smtClean="0">
                <a:latin typeface="Tahoma" panose="020B0604030504040204" pitchFamily="34" charset="0"/>
                <a:ea typeface="Tahoma" panose="020B0604030504040204" pitchFamily="34" charset="0"/>
                <a:cs typeface="Tahoma" panose="020B0604030504040204" pitchFamily="34" charset="0"/>
              </a:rPr>
              <a:t>Have a neat and clean uniform and adhere to all of Dining Services’ uniform policies.</a:t>
            </a:r>
          </a:p>
          <a:p>
            <a:pPr lvl="2"/>
            <a:r>
              <a:rPr lang="en-US" sz="1500" cap="none" dirty="0" smtClean="0">
                <a:latin typeface="Tahoma" panose="020B0604030504040204" pitchFamily="34" charset="0"/>
                <a:ea typeface="Tahoma" panose="020B0604030504040204" pitchFamily="34" charset="0"/>
                <a:cs typeface="Tahoma" panose="020B0604030504040204" pitchFamily="34" charset="0"/>
              </a:rPr>
              <a:t>Smile – it’s the most important part of your uniform.  </a:t>
            </a:r>
          </a:p>
          <a:p>
            <a:pPr lvl="2"/>
            <a:r>
              <a:rPr lang="en-US" sz="1500" cap="none" dirty="0" smtClean="0">
                <a:latin typeface="Tahoma" panose="020B0604030504040204" pitchFamily="34" charset="0"/>
                <a:ea typeface="Tahoma" panose="020B0604030504040204" pitchFamily="34" charset="0"/>
                <a:cs typeface="Tahoma" panose="020B0604030504040204" pitchFamily="34" charset="0"/>
              </a:rPr>
              <a:t>Greeting – “Hi, how are you today?”  </a:t>
            </a:r>
          </a:p>
          <a:p>
            <a:pPr lvl="2"/>
            <a:r>
              <a:rPr lang="en-US" sz="1500" cap="none" dirty="0" smtClean="0">
                <a:latin typeface="Tahoma" panose="020B0604030504040204" pitchFamily="34" charset="0"/>
                <a:ea typeface="Tahoma" panose="020B0604030504040204" pitchFamily="34" charset="0"/>
                <a:cs typeface="Tahoma" panose="020B0604030504040204" pitchFamily="34" charset="0"/>
              </a:rPr>
              <a:t>Ask the guest what they would like instead of what they want.</a:t>
            </a:r>
          </a:p>
          <a:p>
            <a:pPr lvl="2"/>
            <a:r>
              <a:rPr lang="en-US" sz="1500" cap="none" dirty="0" smtClean="0">
                <a:latin typeface="Tahoma" panose="020B0604030504040204" pitchFamily="34" charset="0"/>
                <a:ea typeface="Tahoma" panose="020B0604030504040204" pitchFamily="34" charset="0"/>
                <a:cs typeface="Tahoma" panose="020B0604030504040204" pitchFamily="34" charset="0"/>
              </a:rPr>
              <a:t>Remember to use “Please, thank you, yes, no”</a:t>
            </a:r>
          </a:p>
          <a:p>
            <a:pPr lvl="2"/>
            <a:r>
              <a:rPr lang="en-US" sz="1500" cap="none" dirty="0" smtClean="0">
                <a:latin typeface="Tahoma" panose="020B0604030504040204" pitchFamily="34" charset="0"/>
                <a:ea typeface="Tahoma" panose="020B0604030504040204" pitchFamily="34" charset="0"/>
                <a:cs typeface="Tahoma" panose="020B0604030504040204" pitchFamily="34" charset="0"/>
              </a:rPr>
              <a:t>Make eye contact.</a:t>
            </a:r>
          </a:p>
          <a:p>
            <a:r>
              <a:rPr lang="en-US" sz="1700" cap="none" dirty="0" smtClean="0">
                <a:latin typeface="Tahoma" panose="020B0604030504040204" pitchFamily="34" charset="0"/>
                <a:ea typeface="Tahoma" panose="020B0604030504040204" pitchFamily="34" charset="0"/>
                <a:cs typeface="Tahoma" panose="020B0604030504040204" pitchFamily="34" charset="0"/>
              </a:rPr>
              <a:t>The Three Keys to Customer Service </a:t>
            </a:r>
          </a:p>
          <a:p>
            <a:pPr lvl="1"/>
            <a:r>
              <a:rPr lang="en-US" sz="1400" cap="none" dirty="0" smtClean="0">
                <a:latin typeface="Tahoma" panose="020B0604030504040204" pitchFamily="34" charset="0"/>
                <a:ea typeface="Tahoma" panose="020B0604030504040204" pitchFamily="34" charset="0"/>
                <a:cs typeface="Tahoma" panose="020B0604030504040204" pitchFamily="34" charset="0"/>
              </a:rPr>
              <a:t>Greet – greet each customer, make sure the customer has your undivided attention </a:t>
            </a:r>
          </a:p>
          <a:p>
            <a:pPr lvl="1"/>
            <a:r>
              <a:rPr lang="en-US" sz="1400" cap="none" dirty="0" smtClean="0">
                <a:latin typeface="Tahoma" panose="020B0604030504040204" pitchFamily="34" charset="0"/>
                <a:ea typeface="Tahoma" panose="020B0604030504040204" pitchFamily="34" charset="0"/>
                <a:cs typeface="Tahoma" panose="020B0604030504040204" pitchFamily="34" charset="0"/>
              </a:rPr>
              <a:t>Listen – listen to their order, repeat it back; make sure you under their question(s) or any requests</a:t>
            </a:r>
          </a:p>
          <a:p>
            <a:pPr lvl="1"/>
            <a:r>
              <a:rPr lang="en-US" sz="1400" cap="none" dirty="0" smtClean="0">
                <a:latin typeface="Tahoma" panose="020B0604030504040204" pitchFamily="34" charset="0"/>
                <a:ea typeface="Tahoma" panose="020B0604030504040204" pitchFamily="34" charset="0"/>
                <a:cs typeface="Tahoma" panose="020B0604030504040204" pitchFamily="34" charset="0"/>
              </a:rPr>
              <a:t>Respond – take the appropriate action necessary to honor their request. </a:t>
            </a:r>
          </a:p>
          <a:p>
            <a:pPr marL="1428750" lvl="2" indent="-514350">
              <a:buFont typeface="+mj-lt"/>
              <a:buAutoNum type="romanLcPeriod"/>
            </a:pPr>
            <a:endParaRPr lang="en-US" cap="none"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1942823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7112" y="0"/>
            <a:ext cx="10364451" cy="1596177"/>
          </a:xfrm>
        </p:spPr>
        <p:txBody>
          <a:bodyPr>
            <a:normAutofit/>
          </a:bodyPr>
          <a:lstStyle/>
          <a:p>
            <a:r>
              <a:rPr lang="en-US" dirty="0">
                <a:latin typeface="Berlin Sans FB" panose="020E0602020502020306" pitchFamily="34" charset="0"/>
                <a:ea typeface="Tahoma" panose="020B0604030504040204" pitchFamily="34" charset="0"/>
                <a:cs typeface="Tahoma" panose="020B0604030504040204" pitchFamily="34" charset="0"/>
              </a:rPr>
              <a:t>Cashier Expectations </a:t>
            </a:r>
            <a:endParaRPr lang="en-US" dirty="0"/>
          </a:p>
        </p:txBody>
      </p:sp>
      <p:sp>
        <p:nvSpPr>
          <p:cNvPr id="3" name="Content Placeholder 2"/>
          <p:cNvSpPr>
            <a:spLocks noGrp="1"/>
          </p:cNvSpPr>
          <p:nvPr>
            <p:ph sz="quarter" idx="13"/>
          </p:nvPr>
        </p:nvSpPr>
        <p:spPr>
          <a:xfrm>
            <a:off x="935289" y="1689361"/>
            <a:ext cx="10363826" cy="5168639"/>
          </a:xfrm>
        </p:spPr>
        <p:txBody>
          <a:bodyPr>
            <a:normAutofit/>
          </a:bodyPr>
          <a:lstStyle/>
          <a:p>
            <a:r>
              <a:rPr lang="en-US" sz="1600" dirty="0" smtClean="0">
                <a:latin typeface="Tahoma" panose="020B0604030504040204" pitchFamily="34" charset="0"/>
                <a:ea typeface="Tahoma" panose="020B0604030504040204" pitchFamily="34" charset="0"/>
                <a:cs typeface="Tahoma" panose="020B0604030504040204" pitchFamily="34" charset="0"/>
              </a:rPr>
              <a:t>K</a:t>
            </a:r>
            <a:r>
              <a:rPr lang="en-US" sz="1600" cap="none" dirty="0" smtClean="0">
                <a:latin typeface="Tahoma" panose="020B0604030504040204" pitchFamily="34" charset="0"/>
                <a:ea typeface="Tahoma" panose="020B0604030504040204" pitchFamily="34" charset="0"/>
                <a:cs typeface="Tahoma" panose="020B0604030504040204" pitchFamily="34" charset="0"/>
              </a:rPr>
              <a:t>now and understand the menu, especially any daily specials being offered in your shop.  </a:t>
            </a:r>
          </a:p>
          <a:p>
            <a:pPr lvl="1"/>
            <a:r>
              <a:rPr lang="en-US" sz="1400" cap="none" dirty="0" smtClean="0">
                <a:latin typeface="Tahoma" panose="020B0604030504040204" pitchFamily="34" charset="0"/>
                <a:ea typeface="Tahoma" panose="020B0604030504040204" pitchFamily="34" charset="0"/>
                <a:cs typeface="Tahoma" panose="020B0604030504040204" pitchFamily="34" charset="0"/>
              </a:rPr>
              <a:t>Guests will ask you many different questions related to the menu in your shop.  It will benefit you and the improve the guest’s experience if you know as much as possible about the items your sell. </a:t>
            </a:r>
          </a:p>
          <a:p>
            <a:pPr lvl="1"/>
            <a:r>
              <a:rPr lang="en-US" sz="1400" cap="none" dirty="0" smtClean="0">
                <a:latin typeface="Tahoma" panose="020B0604030504040204" pitchFamily="34" charset="0"/>
                <a:ea typeface="Tahoma" panose="020B0604030504040204" pitchFamily="34" charset="0"/>
                <a:cs typeface="Tahoma" panose="020B0604030504040204" pitchFamily="34" charset="0"/>
              </a:rPr>
              <a:t>If you are asked a question and you do not know the answer, please make sure you find the correct answer by asking a co-worker, supervisor, manager or Chef.  </a:t>
            </a:r>
            <a:r>
              <a:rPr lang="en-US" sz="1400" b="1" cap="none" dirty="0" smtClean="0">
                <a:latin typeface="Tahoma" panose="020B0604030504040204" pitchFamily="34" charset="0"/>
                <a:ea typeface="Tahoma" panose="020B0604030504040204" pitchFamily="34" charset="0"/>
                <a:cs typeface="Tahoma" panose="020B0604030504040204" pitchFamily="34" charset="0"/>
              </a:rPr>
              <a:t>NEVER GUESS!!! </a:t>
            </a:r>
            <a:r>
              <a:rPr lang="en-US" sz="1400" cap="none" dirty="0" smtClean="0">
                <a:latin typeface="Tahoma" panose="020B0604030504040204" pitchFamily="34" charset="0"/>
                <a:ea typeface="Tahoma" panose="020B0604030504040204" pitchFamily="34" charset="0"/>
                <a:cs typeface="Tahoma" panose="020B0604030504040204" pitchFamily="34" charset="0"/>
              </a:rPr>
              <a:t>You never know when someone is asking because they have a food allergy.  </a:t>
            </a:r>
          </a:p>
          <a:p>
            <a:pPr lvl="1"/>
            <a:r>
              <a:rPr lang="en-US" sz="1400" cap="none" dirty="0" smtClean="0">
                <a:latin typeface="Tahoma" panose="020B0604030504040204" pitchFamily="34" charset="0"/>
                <a:ea typeface="Tahoma" panose="020B0604030504040204" pitchFamily="34" charset="0"/>
                <a:cs typeface="Tahoma" panose="020B0604030504040204" pitchFamily="34" charset="0"/>
              </a:rPr>
              <a:t>Never answer a guest’s questions with “I don’t know” unless it’s followed by “but I’ll find out for you.”  Then you must do just that…find the answer.</a:t>
            </a:r>
          </a:p>
          <a:p>
            <a:pPr lvl="1"/>
            <a:r>
              <a:rPr lang="en-US" sz="1400" cap="none" dirty="0" smtClean="0">
                <a:latin typeface="Tahoma" panose="020B0604030504040204" pitchFamily="34" charset="0"/>
                <a:ea typeface="Tahoma" panose="020B0604030504040204" pitchFamily="34" charset="0"/>
                <a:cs typeface="Tahoma" panose="020B0604030504040204" pitchFamily="34" charset="0"/>
              </a:rPr>
              <a:t>You also need to know how to ring up any specials being offered in your shop.  </a:t>
            </a:r>
          </a:p>
          <a:p>
            <a:r>
              <a:rPr lang="en-US" sz="1600" dirty="0" smtClean="0">
                <a:latin typeface="Tahoma" panose="020B0604030504040204" pitchFamily="34" charset="0"/>
                <a:ea typeface="Tahoma" panose="020B0604030504040204" pitchFamily="34" charset="0"/>
                <a:cs typeface="Tahoma" panose="020B0604030504040204" pitchFamily="34" charset="0"/>
              </a:rPr>
              <a:t>A</a:t>
            </a:r>
            <a:r>
              <a:rPr lang="en-US" sz="1600" cap="none" dirty="0" smtClean="0">
                <a:latin typeface="Tahoma" panose="020B0604030504040204" pitchFamily="34" charset="0"/>
                <a:ea typeface="Tahoma" panose="020B0604030504040204" pitchFamily="34" charset="0"/>
                <a:cs typeface="Tahoma" panose="020B0604030504040204" pitchFamily="34" charset="0"/>
              </a:rPr>
              <a:t>dhere to and enforce all of Dining Service’s cash handling policies.  Failure to follow and enforce policies will result in disciplinary action, up to and including termination.  </a:t>
            </a:r>
          </a:p>
          <a:p>
            <a:pPr lvl="1"/>
            <a:r>
              <a:rPr lang="en-US" sz="1400" cap="none" dirty="0" smtClean="0">
                <a:latin typeface="Tahoma" panose="020B0604030504040204" pitchFamily="34" charset="0"/>
                <a:ea typeface="Tahoma" panose="020B0604030504040204" pitchFamily="34" charset="0"/>
                <a:cs typeface="Tahoma" panose="020B0604030504040204" pitchFamily="34" charset="0"/>
              </a:rPr>
              <a:t>When asked to do something that is against one of our policies, please explain why we can’t accommodate that request to the guest.  Don’t say “it’s against our policy.”  </a:t>
            </a:r>
          </a:p>
          <a:p>
            <a:pPr lvl="1"/>
            <a:r>
              <a:rPr lang="en-US" sz="1400" cap="none" dirty="0" smtClean="0">
                <a:latin typeface="Tahoma" panose="020B0604030504040204" pitchFamily="34" charset="0"/>
                <a:ea typeface="Tahoma" panose="020B0604030504040204" pitchFamily="34" charset="0"/>
                <a:cs typeface="Tahoma" panose="020B0604030504040204" pitchFamily="34" charset="0"/>
              </a:rPr>
              <a:t>Offer an alternative solution.</a:t>
            </a:r>
          </a:p>
          <a:p>
            <a:pPr lvl="1"/>
            <a:r>
              <a:rPr lang="en-US" sz="1400" cap="none" dirty="0" smtClean="0">
                <a:latin typeface="Tahoma" panose="020B0604030504040204" pitchFamily="34" charset="0"/>
                <a:ea typeface="Tahoma" panose="020B0604030504040204" pitchFamily="34" charset="0"/>
                <a:cs typeface="Tahoma" panose="020B0604030504040204" pitchFamily="34" charset="0"/>
              </a:rPr>
              <a:t>Always make good eye contact with the guest.  </a:t>
            </a:r>
          </a:p>
          <a:p>
            <a:pPr lvl="1"/>
            <a:endParaRPr lang="en-US" sz="1400" cap="none"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0533989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7412" y="0"/>
            <a:ext cx="10364451" cy="1596177"/>
          </a:xfrm>
        </p:spPr>
        <p:txBody>
          <a:bodyPr>
            <a:normAutofit/>
          </a:bodyPr>
          <a:lstStyle/>
          <a:p>
            <a:r>
              <a:rPr lang="en-US" dirty="0" smtClean="0">
                <a:latin typeface="Berlin Sans FB" panose="020E0602020502020306" pitchFamily="34" charset="0"/>
              </a:rPr>
              <a:t>100% satisfaction guarantee</a:t>
            </a:r>
            <a:endParaRPr lang="en-US" dirty="0">
              <a:latin typeface="Berlin Sans FB" panose="020E0602020502020306" pitchFamily="34" charset="0"/>
            </a:endParaRPr>
          </a:p>
        </p:txBody>
      </p:sp>
      <p:sp>
        <p:nvSpPr>
          <p:cNvPr id="3" name="Content Placeholder 2"/>
          <p:cNvSpPr>
            <a:spLocks noGrp="1"/>
          </p:cNvSpPr>
          <p:nvPr>
            <p:ph sz="quarter" idx="13"/>
          </p:nvPr>
        </p:nvSpPr>
        <p:spPr>
          <a:xfrm>
            <a:off x="838471" y="1420419"/>
            <a:ext cx="10363826" cy="4490908"/>
          </a:xfrm>
        </p:spPr>
        <p:txBody>
          <a:bodyPr>
            <a:normAutofit/>
          </a:bodyPr>
          <a:lstStyle/>
          <a:p>
            <a:r>
              <a:rPr lang="en-US" cap="none" dirty="0" smtClean="0">
                <a:latin typeface="Tahoma" panose="020B0604030504040204" pitchFamily="34" charset="0"/>
                <a:ea typeface="Tahoma" panose="020B0604030504040204" pitchFamily="34" charset="0"/>
                <a:cs typeface="Tahoma" panose="020B0604030504040204" pitchFamily="34" charset="0"/>
              </a:rPr>
              <a:t>Dining Services has a 100% satisfaction guarantee on our products and services.  </a:t>
            </a:r>
          </a:p>
          <a:p>
            <a:pPr lvl="1"/>
            <a:r>
              <a:rPr lang="en-US" cap="none" dirty="0" smtClean="0">
                <a:latin typeface="Tahoma" panose="020B0604030504040204" pitchFamily="34" charset="0"/>
                <a:ea typeface="Tahoma" panose="020B0604030504040204" pitchFamily="34" charset="0"/>
                <a:cs typeface="Tahoma" panose="020B0604030504040204" pitchFamily="34" charset="0"/>
              </a:rPr>
              <a:t>This means that if a customer is not satisfied with any part of their meal, we do what we can to correct the problem.  </a:t>
            </a:r>
          </a:p>
          <a:p>
            <a:pPr lvl="1"/>
            <a:r>
              <a:rPr lang="en-US" cap="none" dirty="0" smtClean="0">
                <a:latin typeface="Tahoma" panose="020B0604030504040204" pitchFamily="34" charset="0"/>
                <a:ea typeface="Tahoma" panose="020B0604030504040204" pitchFamily="34" charset="0"/>
                <a:cs typeface="Tahoma" panose="020B0604030504040204" pitchFamily="34" charset="0"/>
              </a:rPr>
              <a:t>Every guest should leave happy.</a:t>
            </a:r>
          </a:p>
          <a:p>
            <a:pPr lvl="1"/>
            <a:r>
              <a:rPr lang="en-US" cap="none" dirty="0" smtClean="0">
                <a:latin typeface="Tahoma" panose="020B0604030504040204" pitchFamily="34" charset="0"/>
                <a:ea typeface="Tahoma" panose="020B0604030504040204" pitchFamily="34" charset="0"/>
                <a:cs typeface="Tahoma" panose="020B0604030504040204" pitchFamily="34" charset="0"/>
              </a:rPr>
              <a:t>As a cashier and dining services employee, you are empowered to correct the problem (with in reason).</a:t>
            </a:r>
          </a:p>
          <a:p>
            <a:pPr lvl="2"/>
            <a:r>
              <a:rPr lang="en-US" cap="none" dirty="0" smtClean="0">
                <a:latin typeface="Tahoma" panose="020B0604030504040204" pitchFamily="34" charset="0"/>
                <a:ea typeface="Tahoma" panose="020B0604030504040204" pitchFamily="34" charset="0"/>
                <a:cs typeface="Tahoma" panose="020B0604030504040204" pitchFamily="34" charset="0"/>
              </a:rPr>
              <a:t>If someone complains that they don’t like the food, offer to make them something different, free of charge.  </a:t>
            </a:r>
          </a:p>
          <a:p>
            <a:pPr lvl="3"/>
            <a:r>
              <a:rPr lang="en-US" cap="none" dirty="0" smtClean="0">
                <a:latin typeface="Tahoma" panose="020B0604030504040204" pitchFamily="34" charset="0"/>
                <a:ea typeface="Tahoma" panose="020B0604030504040204" pitchFamily="34" charset="0"/>
                <a:cs typeface="Tahoma" panose="020B0604030504040204" pitchFamily="34" charset="0"/>
              </a:rPr>
              <a:t>A good rule of thumb is to make sure the item costs approximately the same thing.  Ex. A cookie for a cookie or cupcake, pizza for pizza, pasta for pasta, hamburger for hamburger or quesadilla, etc.  We can’t give someone who is unhappy with a smoothie a lobster…</a:t>
            </a:r>
          </a:p>
          <a:p>
            <a:pPr lvl="2"/>
            <a:r>
              <a:rPr lang="en-US" cap="none" dirty="0" smtClean="0">
                <a:latin typeface="Tahoma" panose="020B0604030504040204" pitchFamily="34" charset="0"/>
                <a:ea typeface="Tahoma" panose="020B0604030504040204" pitchFamily="34" charset="0"/>
                <a:cs typeface="Tahoma" panose="020B0604030504040204" pitchFamily="34" charset="0"/>
              </a:rPr>
              <a:t>Don’t hesitate to get a manager or supervisor involved if needed.  </a:t>
            </a:r>
          </a:p>
          <a:p>
            <a:pPr lvl="2"/>
            <a:r>
              <a:rPr lang="en-US" cap="none" dirty="0" smtClean="0">
                <a:latin typeface="Tahoma" panose="020B0604030504040204" pitchFamily="34" charset="0"/>
                <a:ea typeface="Tahoma" panose="020B0604030504040204" pitchFamily="34" charset="0"/>
                <a:cs typeface="Tahoma" panose="020B0604030504040204" pitchFamily="34" charset="0"/>
              </a:rPr>
              <a:t>Managers will need to perform any refunds needed.  </a:t>
            </a:r>
          </a:p>
        </p:txBody>
      </p:sp>
    </p:spTree>
    <p:extLst>
      <p:ext uri="{BB962C8B-B14F-4D97-AF65-F5344CB8AC3E}">
        <p14:creationId xmlns:p14="http://schemas.microsoft.com/office/powerpoint/2010/main" val="32147922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7564" y="182880"/>
            <a:ext cx="10364451" cy="1307102"/>
          </a:xfrm>
        </p:spPr>
        <p:txBody>
          <a:bodyPr>
            <a:normAutofit/>
          </a:bodyPr>
          <a:lstStyle/>
          <a:p>
            <a:r>
              <a:rPr lang="en-US" dirty="0" smtClean="0">
                <a:latin typeface="Berlin Sans FB" panose="020E0602020502020306" pitchFamily="34" charset="0"/>
              </a:rPr>
              <a:t>Cash handling polices and procedures </a:t>
            </a:r>
            <a:endParaRPr lang="en-US" dirty="0">
              <a:latin typeface="Berlin Sans FB" panose="020E0602020502020306" pitchFamily="34" charset="0"/>
            </a:endParaRPr>
          </a:p>
        </p:txBody>
      </p:sp>
      <p:sp>
        <p:nvSpPr>
          <p:cNvPr id="3" name="Content Placeholder 2"/>
          <p:cNvSpPr>
            <a:spLocks noGrp="1"/>
          </p:cNvSpPr>
          <p:nvPr>
            <p:ph sz="quarter" idx="13"/>
          </p:nvPr>
        </p:nvSpPr>
        <p:spPr>
          <a:xfrm>
            <a:off x="967564" y="1339375"/>
            <a:ext cx="10363826" cy="4824757"/>
          </a:xfrm>
        </p:spPr>
        <p:txBody>
          <a:bodyPr>
            <a:normAutofit/>
          </a:bodyPr>
          <a:lstStyle/>
          <a:p>
            <a:r>
              <a:rPr lang="en-US" cap="none" dirty="0" smtClean="0">
                <a:latin typeface="Tahoma" panose="020B0604030504040204" pitchFamily="34" charset="0"/>
                <a:ea typeface="Tahoma" panose="020B0604030504040204" pitchFamily="34" charset="0"/>
                <a:cs typeface="Tahoma" panose="020B0604030504040204" pitchFamily="34" charset="0"/>
              </a:rPr>
              <a:t>Method of Payment</a:t>
            </a:r>
          </a:p>
          <a:p>
            <a:pPr lvl="1"/>
            <a:r>
              <a:rPr lang="en-US" cap="none" dirty="0" smtClean="0">
                <a:latin typeface="Tahoma" panose="020B0604030504040204" pitchFamily="34" charset="0"/>
                <a:ea typeface="Tahoma" panose="020B0604030504040204" pitchFamily="34" charset="0"/>
                <a:cs typeface="Tahoma" panose="020B0604030504040204" pitchFamily="34" charset="0"/>
              </a:rPr>
              <a:t>West End Market is a “cashless” facility, meaning we do not accept cash or checks for payment.  We accept:</a:t>
            </a:r>
          </a:p>
          <a:p>
            <a:pPr lvl="2"/>
            <a:r>
              <a:rPr lang="en-US" cap="none" dirty="0" smtClean="0">
                <a:latin typeface="Tahoma" panose="020B0604030504040204" pitchFamily="34" charset="0"/>
                <a:ea typeface="Tahoma" panose="020B0604030504040204" pitchFamily="34" charset="0"/>
                <a:cs typeface="Tahoma" panose="020B0604030504040204" pitchFamily="34" charset="0"/>
              </a:rPr>
              <a:t>Hokie Passports (Meal Plans, Hokie Passport, Dining Dollars, Commuter Cash, etc.)</a:t>
            </a:r>
          </a:p>
          <a:p>
            <a:pPr lvl="2"/>
            <a:r>
              <a:rPr lang="en-US" cap="none" dirty="0" smtClean="0">
                <a:latin typeface="Tahoma" panose="020B0604030504040204" pitchFamily="34" charset="0"/>
                <a:ea typeface="Tahoma" panose="020B0604030504040204" pitchFamily="34" charset="0"/>
                <a:cs typeface="Tahoma" panose="020B0604030504040204" pitchFamily="34" charset="0"/>
              </a:rPr>
              <a:t>Visa						</a:t>
            </a:r>
          </a:p>
          <a:p>
            <a:pPr lvl="2"/>
            <a:r>
              <a:rPr lang="en-US" cap="none" dirty="0" smtClean="0">
                <a:latin typeface="Tahoma" panose="020B0604030504040204" pitchFamily="34" charset="0"/>
                <a:ea typeface="Tahoma" panose="020B0604030504040204" pitchFamily="34" charset="0"/>
                <a:cs typeface="Tahoma" panose="020B0604030504040204" pitchFamily="34" charset="0"/>
              </a:rPr>
              <a:t>MasterCard			</a:t>
            </a:r>
          </a:p>
          <a:p>
            <a:pPr lvl="2"/>
            <a:r>
              <a:rPr lang="en-US" cap="none" dirty="0" smtClean="0">
                <a:latin typeface="Tahoma" panose="020B0604030504040204" pitchFamily="34" charset="0"/>
                <a:ea typeface="Tahoma" panose="020B0604030504040204" pitchFamily="34" charset="0"/>
                <a:cs typeface="Tahoma" panose="020B0604030504040204" pitchFamily="34" charset="0"/>
              </a:rPr>
              <a:t>Discover</a:t>
            </a:r>
          </a:p>
          <a:p>
            <a:pPr lvl="2"/>
            <a:r>
              <a:rPr lang="en-US" u="sng" cap="none" dirty="0" smtClean="0">
                <a:latin typeface="Tahoma" panose="020B0604030504040204" pitchFamily="34" charset="0"/>
                <a:ea typeface="Tahoma" panose="020B0604030504040204" pitchFamily="34" charset="0"/>
                <a:cs typeface="Tahoma" panose="020B0604030504040204" pitchFamily="34" charset="0"/>
              </a:rPr>
              <a:t>We DO NOT accept American Express.</a:t>
            </a:r>
            <a:r>
              <a:rPr lang="en-US" cap="none" dirty="0" smtClean="0">
                <a:latin typeface="Tahoma" panose="020B0604030504040204" pitchFamily="34" charset="0"/>
                <a:ea typeface="Tahoma" panose="020B0604030504040204" pitchFamily="34" charset="0"/>
                <a:cs typeface="Tahoma" panose="020B0604030504040204" pitchFamily="34" charset="0"/>
              </a:rPr>
              <a:t>  </a:t>
            </a:r>
            <a:endParaRPr lang="en-US" cap="none"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788434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140" y="279700"/>
            <a:ext cx="10364451" cy="1097280"/>
          </a:xfrm>
        </p:spPr>
        <p:txBody>
          <a:bodyPr/>
          <a:lstStyle/>
          <a:p>
            <a:r>
              <a:rPr lang="en-US" dirty="0">
                <a:latin typeface="Berlin Sans FB" panose="020E0602020502020306" pitchFamily="34" charset="0"/>
              </a:rPr>
              <a:t>Cash handling polices and procedures </a:t>
            </a:r>
            <a:endParaRPr lang="en-US" dirty="0"/>
          </a:p>
        </p:txBody>
      </p:sp>
      <p:pic>
        <p:nvPicPr>
          <p:cNvPr id="5" name="Picture 4"/>
          <p:cNvPicPr>
            <a:picLocks noChangeAspect="1"/>
          </p:cNvPicPr>
          <p:nvPr/>
        </p:nvPicPr>
        <p:blipFill>
          <a:blip r:embed="rId3"/>
          <a:stretch>
            <a:fillRect/>
          </a:stretch>
        </p:blipFill>
        <p:spPr>
          <a:xfrm>
            <a:off x="1075140" y="1443167"/>
            <a:ext cx="3067050" cy="1847850"/>
          </a:xfrm>
          <a:prstGeom prst="rect">
            <a:avLst/>
          </a:prstGeom>
        </p:spPr>
      </p:pic>
      <p:pic>
        <p:nvPicPr>
          <p:cNvPr id="6" name="Picture 5"/>
          <p:cNvPicPr>
            <a:picLocks noChangeAspect="1"/>
          </p:cNvPicPr>
          <p:nvPr/>
        </p:nvPicPr>
        <p:blipFill>
          <a:blip r:embed="rId4"/>
          <a:stretch>
            <a:fillRect/>
          </a:stretch>
        </p:blipFill>
        <p:spPr>
          <a:xfrm>
            <a:off x="4398981" y="2700467"/>
            <a:ext cx="3200400" cy="3200400"/>
          </a:xfrm>
          <a:prstGeom prst="rect">
            <a:avLst/>
          </a:prstGeom>
        </p:spPr>
      </p:pic>
      <p:pic>
        <p:nvPicPr>
          <p:cNvPr id="8" name="Picture 7"/>
          <p:cNvPicPr>
            <a:picLocks noChangeAspect="1"/>
          </p:cNvPicPr>
          <p:nvPr/>
        </p:nvPicPr>
        <p:blipFill>
          <a:blip r:embed="rId5"/>
          <a:stretch>
            <a:fillRect/>
          </a:stretch>
        </p:blipFill>
        <p:spPr>
          <a:xfrm>
            <a:off x="1075140" y="4300667"/>
            <a:ext cx="3076575" cy="1876425"/>
          </a:xfrm>
          <a:prstGeom prst="rect">
            <a:avLst/>
          </a:prstGeom>
        </p:spPr>
      </p:pic>
      <p:pic>
        <p:nvPicPr>
          <p:cNvPr id="3" name="Picture 2"/>
          <p:cNvPicPr>
            <a:picLocks noChangeAspect="1"/>
          </p:cNvPicPr>
          <p:nvPr/>
        </p:nvPicPr>
        <p:blipFill>
          <a:blip r:embed="rId6"/>
          <a:stretch>
            <a:fillRect/>
          </a:stretch>
        </p:blipFill>
        <p:spPr>
          <a:xfrm>
            <a:off x="7856171" y="1560589"/>
            <a:ext cx="3313551" cy="2342338"/>
          </a:xfrm>
          <a:prstGeom prst="rect">
            <a:avLst/>
          </a:prstGeom>
        </p:spPr>
      </p:pic>
      <p:cxnSp>
        <p:nvCxnSpPr>
          <p:cNvPr id="7" name="Straight Connector 6"/>
          <p:cNvCxnSpPr/>
          <p:nvPr/>
        </p:nvCxnSpPr>
        <p:spPr>
          <a:xfrm>
            <a:off x="4719670" y="3774519"/>
            <a:ext cx="2308302" cy="2230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660187" y="3902927"/>
            <a:ext cx="2677988"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752782" y="4134738"/>
            <a:ext cx="2308302" cy="2230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719670" y="4309115"/>
            <a:ext cx="2308302" cy="2230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7953183" y="4106474"/>
            <a:ext cx="3324418" cy="1794393"/>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7953182" y="4086536"/>
            <a:ext cx="3338273" cy="1754326"/>
          </a:xfrm>
          <a:prstGeom prst="rect">
            <a:avLst/>
          </a:prstGeom>
          <a:noFill/>
        </p:spPr>
        <p:txBody>
          <a:bodyPr wrap="square" rtlCol="0">
            <a:spAutoFit/>
          </a:bodyPr>
          <a:lstStyle/>
          <a:p>
            <a:r>
              <a:rPr lang="en-US" dirty="0" smtClean="0"/>
              <a:t>If a Hokie Passport is present, but not reading when swiped, you must get a manager so the payment can be processed.  </a:t>
            </a:r>
            <a:r>
              <a:rPr lang="en-US" u="sng" dirty="0" smtClean="0"/>
              <a:t>Only a manager can manually enter in their ID number. </a:t>
            </a:r>
            <a:endParaRPr lang="en-US" u="sng" dirty="0"/>
          </a:p>
        </p:txBody>
      </p:sp>
    </p:spTree>
    <p:extLst>
      <p:ext uri="{BB962C8B-B14F-4D97-AF65-F5344CB8AC3E}">
        <p14:creationId xmlns:p14="http://schemas.microsoft.com/office/powerpoint/2010/main" val="28462105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8170" y="0"/>
            <a:ext cx="10364451" cy="1091949"/>
          </a:xfrm>
        </p:spPr>
        <p:txBody>
          <a:bodyPr/>
          <a:lstStyle/>
          <a:p>
            <a:r>
              <a:rPr lang="en-US" dirty="0">
                <a:latin typeface="Berlin Sans FB" panose="020E0602020502020306" pitchFamily="34" charset="0"/>
              </a:rPr>
              <a:t>Cash handling polices and procedures </a:t>
            </a:r>
            <a:endParaRPr lang="en-US" dirty="0"/>
          </a:p>
        </p:txBody>
      </p:sp>
      <p:sp>
        <p:nvSpPr>
          <p:cNvPr id="3" name="Content Placeholder 2"/>
          <p:cNvSpPr>
            <a:spLocks noGrp="1"/>
          </p:cNvSpPr>
          <p:nvPr>
            <p:ph sz="quarter" idx="13"/>
          </p:nvPr>
        </p:nvSpPr>
        <p:spPr>
          <a:xfrm>
            <a:off x="978320" y="1216024"/>
            <a:ext cx="3980955" cy="1365811"/>
          </a:xfrm>
        </p:spPr>
        <p:style>
          <a:lnRef idx="1">
            <a:schemeClr val="accent4"/>
          </a:lnRef>
          <a:fillRef idx="2">
            <a:schemeClr val="accent4"/>
          </a:fillRef>
          <a:effectRef idx="1">
            <a:schemeClr val="accent4"/>
          </a:effectRef>
          <a:fontRef idx="minor">
            <a:schemeClr val="dk1"/>
          </a:fontRef>
        </p:style>
        <p:txBody>
          <a:bodyPr>
            <a:normAutofit lnSpcReduction="10000"/>
          </a:bodyPr>
          <a:lstStyle/>
          <a:p>
            <a:pPr marL="0" indent="0">
              <a:buNone/>
            </a:pPr>
            <a:r>
              <a:rPr lang="en-US" sz="1400" cap="none" dirty="0" smtClean="0">
                <a:latin typeface="Tahoma" panose="020B0604030504040204" pitchFamily="34" charset="0"/>
                <a:ea typeface="Tahoma" panose="020B0604030504040204" pitchFamily="34" charset="0"/>
                <a:cs typeface="Tahoma" panose="020B0604030504040204" pitchFamily="34" charset="0"/>
              </a:rPr>
              <a:t>Micros – we use a Micros operating system with a touch screen.  Only finger tips should be used on the touchscreens; no pens, pencils, clerk cards or sharp objects should be used on the screen.</a:t>
            </a:r>
          </a:p>
        </p:txBody>
      </p:sp>
      <p:sp>
        <p:nvSpPr>
          <p:cNvPr id="4" name="Rectangle 3"/>
          <p:cNvSpPr/>
          <p:nvPr/>
        </p:nvSpPr>
        <p:spPr>
          <a:xfrm>
            <a:off x="5859426" y="1216024"/>
            <a:ext cx="4943674" cy="116955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Overages/Shortages – Cashier will receive a counseling memo for any overages or shortages in excess of $5.00. </a:t>
            </a:r>
          </a:p>
          <a:p>
            <a:pPr lvl="1"/>
            <a:r>
              <a:rPr lang="en-US" sz="1400" dirty="0">
                <a:latin typeface="Tahoma" panose="020B0604030504040204" pitchFamily="34" charset="0"/>
                <a:ea typeface="Tahoma" panose="020B0604030504040204" pitchFamily="34" charset="0"/>
                <a:cs typeface="Tahoma" panose="020B0604030504040204" pitchFamily="34" charset="0"/>
              </a:rPr>
              <a:t>Cashiers who receive three counseling memos will be removed from </a:t>
            </a:r>
            <a:r>
              <a:rPr lang="en-US" sz="1400" dirty="0" smtClean="0">
                <a:latin typeface="Tahoma" panose="020B0604030504040204" pitchFamily="34" charset="0"/>
                <a:ea typeface="Tahoma" panose="020B0604030504040204" pitchFamily="34" charset="0"/>
                <a:cs typeface="Tahoma" panose="020B0604030504040204" pitchFamily="34" charset="0"/>
              </a:rPr>
              <a:t> the </a:t>
            </a:r>
            <a:r>
              <a:rPr lang="en-US" sz="1400" dirty="0">
                <a:latin typeface="Tahoma" panose="020B0604030504040204" pitchFamily="34" charset="0"/>
                <a:ea typeface="Tahoma" panose="020B0604030504040204" pitchFamily="34" charset="0"/>
                <a:cs typeface="Tahoma" panose="020B0604030504040204" pitchFamily="34" charset="0"/>
              </a:rPr>
              <a:t>cashier position or terminated, depending on the severity of the </a:t>
            </a:r>
            <a:r>
              <a:rPr lang="en-US" sz="1400" dirty="0" smtClean="0">
                <a:latin typeface="Tahoma" panose="020B0604030504040204" pitchFamily="34" charset="0"/>
                <a:ea typeface="Tahoma" panose="020B0604030504040204" pitchFamily="34" charset="0"/>
                <a:cs typeface="Tahoma" panose="020B0604030504040204" pitchFamily="34" charset="0"/>
              </a:rPr>
              <a:t>overage </a:t>
            </a:r>
            <a:r>
              <a:rPr lang="en-US" sz="1400" dirty="0">
                <a:latin typeface="Tahoma" panose="020B0604030504040204" pitchFamily="34" charset="0"/>
                <a:ea typeface="Tahoma" panose="020B0604030504040204" pitchFamily="34" charset="0"/>
                <a:cs typeface="Tahoma" panose="020B0604030504040204" pitchFamily="34" charset="0"/>
              </a:rPr>
              <a:t>or shortage.   </a:t>
            </a:r>
          </a:p>
        </p:txBody>
      </p:sp>
      <p:pic>
        <p:nvPicPr>
          <p:cNvPr id="6" name="Picture 5"/>
          <p:cNvPicPr>
            <a:picLocks noChangeAspect="1"/>
          </p:cNvPicPr>
          <p:nvPr/>
        </p:nvPicPr>
        <p:blipFill>
          <a:blip r:embed="rId3"/>
          <a:stretch>
            <a:fillRect/>
          </a:stretch>
        </p:blipFill>
        <p:spPr>
          <a:xfrm>
            <a:off x="268315" y="2865346"/>
            <a:ext cx="2876550" cy="3448050"/>
          </a:xfrm>
          <a:prstGeom prst="rect">
            <a:avLst/>
          </a:prstGeom>
        </p:spPr>
      </p:pic>
      <p:pic>
        <p:nvPicPr>
          <p:cNvPr id="7" name="Picture 6"/>
          <p:cNvPicPr>
            <a:picLocks noChangeAspect="1"/>
          </p:cNvPicPr>
          <p:nvPr/>
        </p:nvPicPr>
        <p:blipFill>
          <a:blip r:embed="rId4"/>
          <a:stretch>
            <a:fillRect/>
          </a:stretch>
        </p:blipFill>
        <p:spPr>
          <a:xfrm>
            <a:off x="8415571" y="2732442"/>
            <a:ext cx="3067050" cy="3352800"/>
          </a:xfrm>
          <a:prstGeom prst="rect">
            <a:avLst/>
          </a:prstGeom>
        </p:spPr>
      </p:pic>
      <p:pic>
        <p:nvPicPr>
          <p:cNvPr id="8" name="Picture 7"/>
          <p:cNvPicPr>
            <a:picLocks noChangeAspect="1"/>
          </p:cNvPicPr>
          <p:nvPr/>
        </p:nvPicPr>
        <p:blipFill>
          <a:blip r:embed="rId5"/>
          <a:stretch>
            <a:fillRect/>
          </a:stretch>
        </p:blipFill>
        <p:spPr>
          <a:xfrm>
            <a:off x="4297326" y="2865346"/>
            <a:ext cx="3124200" cy="2571750"/>
          </a:xfrm>
          <a:prstGeom prst="rect">
            <a:avLst/>
          </a:prstGeom>
        </p:spPr>
      </p:pic>
    </p:spTree>
    <p:extLst>
      <p:ext uri="{BB962C8B-B14F-4D97-AF65-F5344CB8AC3E}">
        <p14:creationId xmlns:p14="http://schemas.microsoft.com/office/powerpoint/2010/main" val="14656173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98" y="0"/>
            <a:ext cx="10364451" cy="1027403"/>
          </a:xfrm>
        </p:spPr>
        <p:txBody>
          <a:bodyPr/>
          <a:lstStyle/>
          <a:p>
            <a:r>
              <a:rPr lang="en-US" dirty="0">
                <a:latin typeface="Berlin Sans FB" panose="020E0602020502020306" pitchFamily="34" charset="0"/>
              </a:rPr>
              <a:t>Cash handling polices and procedures </a:t>
            </a:r>
            <a:endParaRPr lang="en-US" dirty="0"/>
          </a:p>
        </p:txBody>
      </p:sp>
      <p:sp>
        <p:nvSpPr>
          <p:cNvPr id="3" name="Content Placeholder 2"/>
          <p:cNvSpPr>
            <a:spLocks noGrp="1"/>
          </p:cNvSpPr>
          <p:nvPr>
            <p:ph sz="quarter" idx="13"/>
          </p:nvPr>
        </p:nvSpPr>
        <p:spPr>
          <a:xfrm>
            <a:off x="925159" y="1302085"/>
            <a:ext cx="5873675" cy="3818555"/>
          </a:xfrm>
        </p:spPr>
        <p:style>
          <a:lnRef idx="1">
            <a:schemeClr val="accent6"/>
          </a:lnRef>
          <a:fillRef idx="2">
            <a:schemeClr val="accent6"/>
          </a:fillRef>
          <a:effectRef idx="1">
            <a:schemeClr val="accent6"/>
          </a:effectRef>
          <a:fontRef idx="minor">
            <a:schemeClr val="dk1"/>
          </a:fontRef>
        </p:style>
        <p:txBody>
          <a:bodyPr>
            <a:normAutofit/>
          </a:bodyPr>
          <a:lstStyle/>
          <a:p>
            <a:r>
              <a:rPr lang="en-US" sz="1200" cap="none" dirty="0" smtClean="0">
                <a:latin typeface="Tahoma" panose="020B0604030504040204" pitchFamily="34" charset="0"/>
                <a:ea typeface="Tahoma" panose="020B0604030504040204" pitchFamily="34" charset="0"/>
                <a:cs typeface="Tahoma" panose="020B0604030504040204" pitchFamily="34" charset="0"/>
              </a:rPr>
              <a:t>Receipts </a:t>
            </a:r>
          </a:p>
          <a:p>
            <a:pPr lvl="1"/>
            <a:r>
              <a:rPr lang="en-US" sz="1200" cap="none" dirty="0" smtClean="0">
                <a:latin typeface="Tahoma" panose="020B0604030504040204" pitchFamily="34" charset="0"/>
                <a:ea typeface="Tahoma" panose="020B0604030504040204" pitchFamily="34" charset="0"/>
                <a:cs typeface="Tahoma" panose="020B0604030504040204" pitchFamily="34" charset="0"/>
              </a:rPr>
              <a:t>Every customer receives a receipt for their purchase(s).  </a:t>
            </a:r>
            <a:endParaRPr lang="en-US" sz="1200" cap="none" dirty="0">
              <a:latin typeface="Tahoma" panose="020B0604030504040204" pitchFamily="34" charset="0"/>
              <a:ea typeface="Tahoma" panose="020B0604030504040204" pitchFamily="34" charset="0"/>
              <a:cs typeface="Tahoma" panose="020B0604030504040204" pitchFamily="34" charset="0"/>
            </a:endParaRPr>
          </a:p>
          <a:p>
            <a:pPr lvl="1"/>
            <a:r>
              <a:rPr lang="en-US" sz="1200" cap="none" dirty="0" smtClean="0">
                <a:latin typeface="Tahoma" panose="020B0604030504040204" pitchFamily="34" charset="0"/>
                <a:ea typeface="Tahoma" panose="020B0604030504040204" pitchFamily="34" charset="0"/>
                <a:cs typeface="Tahoma" panose="020B0604030504040204" pitchFamily="34" charset="0"/>
              </a:rPr>
              <a:t>Do not ask if the customer wants a receipt.  They have the ability to throw away any unwanted receipts. </a:t>
            </a:r>
          </a:p>
          <a:p>
            <a:pPr lvl="1"/>
            <a:r>
              <a:rPr lang="en-US" sz="1200" cap="none" dirty="0" smtClean="0">
                <a:latin typeface="Tahoma" panose="020B0604030504040204" pitchFamily="34" charset="0"/>
                <a:ea typeface="Tahoma" panose="020B0604030504040204" pitchFamily="34" charset="0"/>
                <a:cs typeface="Tahoma" panose="020B0604030504040204" pitchFamily="34" charset="0"/>
              </a:rPr>
              <a:t>Each shop at West End Market gives customers’ their receipts at different times in the ordering process.  Some give you a receipt when you pay, others give you a receipt when you pick up your food.  This will be explained to you when you are completing your in shop training.  </a:t>
            </a:r>
          </a:p>
          <a:p>
            <a:pPr lvl="1"/>
            <a:r>
              <a:rPr lang="en-US" sz="1200" b="1" u="sng" cap="none" dirty="0" smtClean="0">
                <a:latin typeface="Tahoma" panose="020B0604030504040204" pitchFamily="34" charset="0"/>
                <a:ea typeface="Tahoma" panose="020B0604030504040204" pitchFamily="34" charset="0"/>
                <a:cs typeface="Tahoma" panose="020B0604030504040204" pitchFamily="34" charset="0"/>
              </a:rPr>
              <a:t>Make sure you have at least 2 rolls of Micros receipt paper </a:t>
            </a:r>
            <a:r>
              <a:rPr lang="en-US" sz="1200" cap="none" dirty="0" smtClean="0">
                <a:latin typeface="Tahoma" panose="020B0604030504040204" pitchFamily="34" charset="0"/>
                <a:ea typeface="Tahoma" panose="020B0604030504040204" pitchFamily="34" charset="0"/>
                <a:cs typeface="Tahoma" panose="020B0604030504040204" pitchFamily="34" charset="0"/>
              </a:rPr>
              <a:t>at your register before you being your shift as a cashier.  It’s a big inconvenience to stop the line and make customers wait while you get more receipt paper.  </a:t>
            </a:r>
          </a:p>
          <a:p>
            <a:pPr lvl="2"/>
            <a:r>
              <a:rPr lang="en-US" sz="1200" cap="none" dirty="0" smtClean="0">
                <a:latin typeface="Tahoma" panose="020B0604030504040204" pitchFamily="34" charset="0"/>
                <a:ea typeface="Tahoma" panose="020B0604030504040204" pitchFamily="34" charset="0"/>
                <a:cs typeface="Tahoma" panose="020B0604030504040204" pitchFamily="34" charset="0"/>
              </a:rPr>
              <a:t>Receipt paper can be retrieved from the kiosk.  </a:t>
            </a:r>
          </a:p>
          <a:p>
            <a:pPr lvl="1"/>
            <a:r>
              <a:rPr lang="en-US" sz="1200" cap="none" dirty="0" smtClean="0">
                <a:latin typeface="Tahoma" panose="020B0604030504040204" pitchFamily="34" charset="0"/>
                <a:ea typeface="Tahoma" panose="020B0604030504040204" pitchFamily="34" charset="0"/>
                <a:cs typeface="Tahoma" panose="020B0604030504040204" pitchFamily="34" charset="0"/>
              </a:rPr>
              <a:t>Also make sure you have someone show you how to change the receipt paper.  </a:t>
            </a:r>
            <a:endParaRPr lang="en-US" sz="1200" cap="none" dirty="0">
              <a:latin typeface="Tahoma" panose="020B0604030504040204" pitchFamily="34" charset="0"/>
              <a:ea typeface="Tahoma" panose="020B0604030504040204" pitchFamily="34" charset="0"/>
              <a:cs typeface="Tahoma" panose="020B0604030504040204" pitchFamily="34" charset="0"/>
            </a:endParaRPr>
          </a:p>
        </p:txBody>
      </p:sp>
      <p:pic>
        <p:nvPicPr>
          <p:cNvPr id="4" name="Picture 3"/>
          <p:cNvPicPr>
            <a:picLocks noChangeAspect="1"/>
          </p:cNvPicPr>
          <p:nvPr/>
        </p:nvPicPr>
        <p:blipFill>
          <a:blip r:embed="rId3"/>
          <a:stretch>
            <a:fillRect/>
          </a:stretch>
        </p:blipFill>
        <p:spPr>
          <a:xfrm>
            <a:off x="7436655" y="1226373"/>
            <a:ext cx="3086100" cy="2381250"/>
          </a:xfrm>
          <a:prstGeom prst="rect">
            <a:avLst/>
          </a:prstGeom>
        </p:spPr>
      </p:pic>
    </p:spTree>
    <p:extLst>
      <p:ext uri="{BB962C8B-B14F-4D97-AF65-F5344CB8AC3E}">
        <p14:creationId xmlns:p14="http://schemas.microsoft.com/office/powerpoint/2010/main" val="17788724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5746" y="285031"/>
            <a:ext cx="10364451" cy="887554"/>
          </a:xfrm>
        </p:spPr>
        <p:txBody>
          <a:bodyPr/>
          <a:lstStyle/>
          <a:p>
            <a:r>
              <a:rPr lang="en-US" dirty="0" smtClean="0">
                <a:latin typeface="Berlin Sans FB" panose="020E0602020502020306" pitchFamily="34" charset="0"/>
              </a:rPr>
              <a:t>Employee Meal policies </a:t>
            </a:r>
            <a:endParaRPr lang="en-US" dirty="0"/>
          </a:p>
        </p:txBody>
      </p:sp>
      <p:sp>
        <p:nvSpPr>
          <p:cNvPr id="3" name="Content Placeholder 2"/>
          <p:cNvSpPr>
            <a:spLocks noGrp="1"/>
          </p:cNvSpPr>
          <p:nvPr>
            <p:ph sz="quarter" idx="13"/>
          </p:nvPr>
        </p:nvSpPr>
        <p:spPr>
          <a:xfrm>
            <a:off x="999836" y="1194510"/>
            <a:ext cx="10363826" cy="5663490"/>
          </a:xfrm>
        </p:spPr>
        <p:txBody>
          <a:bodyPr>
            <a:normAutofit/>
          </a:bodyPr>
          <a:lstStyle/>
          <a:p>
            <a:r>
              <a:rPr lang="en-US" sz="1800" i="1" u="sng" cap="none" dirty="0" smtClean="0">
                <a:latin typeface="Tahoma" panose="020B0604030504040204" pitchFamily="34" charset="0"/>
                <a:ea typeface="Tahoma" panose="020B0604030504040204" pitchFamily="34" charset="0"/>
                <a:cs typeface="Tahoma" panose="020B0604030504040204" pitchFamily="34" charset="0"/>
              </a:rPr>
              <a:t>As a cashier, you are responsible for following and enforcing all employee meal policies.  Failure to do so can result in disciplinary action, up to and including termination.  </a:t>
            </a:r>
          </a:p>
          <a:p>
            <a:r>
              <a:rPr lang="en-US" sz="1800" cap="none" dirty="0">
                <a:latin typeface="Tahoma" panose="020B0604030504040204" pitchFamily="34" charset="0"/>
                <a:ea typeface="Tahoma" panose="020B0604030504040204" pitchFamily="34" charset="0"/>
                <a:cs typeface="Tahoma" panose="020B0604030504040204" pitchFamily="34" charset="0"/>
              </a:rPr>
              <a:t>We do not accept meal passes from any other dining unit on campus.  </a:t>
            </a:r>
            <a:endParaRPr lang="en-US" sz="1800" cap="none" dirty="0" smtClean="0">
              <a:latin typeface="Tahoma" panose="020B0604030504040204" pitchFamily="34" charset="0"/>
              <a:ea typeface="Tahoma" panose="020B0604030504040204" pitchFamily="34" charset="0"/>
              <a:cs typeface="Tahoma" panose="020B0604030504040204" pitchFamily="34" charset="0"/>
            </a:endParaRPr>
          </a:p>
          <a:p>
            <a:r>
              <a:rPr lang="en-US" sz="1800" cap="none" dirty="0" smtClean="0">
                <a:latin typeface="Tahoma" panose="020B0604030504040204" pitchFamily="34" charset="0"/>
                <a:ea typeface="Tahoma" panose="020B0604030504040204" pitchFamily="34" charset="0"/>
                <a:cs typeface="Tahoma" panose="020B0604030504040204" pitchFamily="34" charset="0"/>
              </a:rPr>
              <a:t>All </a:t>
            </a:r>
            <a:r>
              <a:rPr lang="en-US" sz="1800" cap="none" dirty="0">
                <a:latin typeface="Tahoma" panose="020B0604030504040204" pitchFamily="34" charset="0"/>
                <a:ea typeface="Tahoma" panose="020B0604030504040204" pitchFamily="34" charset="0"/>
                <a:cs typeface="Tahoma" panose="020B0604030504040204" pitchFamily="34" charset="0"/>
              </a:rPr>
              <a:t>wage and salaried employees at West End Market use their Hokie Passports to pay for their employee meal.  There are times that they will use a West End Market meal card instead of their Hokie Passport.  Students will be issued a West End Market meal card to purchase their food.  These employee meal plan funds will only work at West End </a:t>
            </a:r>
            <a:r>
              <a:rPr lang="en-US" sz="1800" cap="none" dirty="0" smtClean="0">
                <a:latin typeface="Tahoma" panose="020B0604030504040204" pitchFamily="34" charset="0"/>
                <a:ea typeface="Tahoma" panose="020B0604030504040204" pitchFamily="34" charset="0"/>
                <a:cs typeface="Tahoma" panose="020B0604030504040204" pitchFamily="34" charset="0"/>
              </a:rPr>
              <a:t>Market.</a:t>
            </a:r>
          </a:p>
          <a:p>
            <a:r>
              <a:rPr lang="en-US" sz="1800" cap="none" dirty="0">
                <a:latin typeface="Tahoma" panose="020B0604030504040204" pitchFamily="34" charset="0"/>
                <a:ea typeface="Tahoma" panose="020B0604030504040204" pitchFamily="34" charset="0"/>
                <a:cs typeface="Tahoma" panose="020B0604030504040204" pitchFamily="34" charset="0"/>
              </a:rPr>
              <a:t>Each employee has a meal allowance of $</a:t>
            </a:r>
            <a:r>
              <a:rPr lang="en-US" sz="1800" cap="none" dirty="0" smtClean="0">
                <a:latin typeface="Tahoma" panose="020B0604030504040204" pitchFamily="34" charset="0"/>
                <a:ea typeface="Tahoma" panose="020B0604030504040204" pitchFamily="34" charset="0"/>
                <a:cs typeface="Tahoma" panose="020B0604030504040204" pitchFamily="34" charset="0"/>
              </a:rPr>
              <a:t>8.50.  </a:t>
            </a:r>
            <a:r>
              <a:rPr lang="en-US" sz="1800" cap="none" dirty="0">
                <a:latin typeface="Tahoma" panose="020B0604030504040204" pitchFamily="34" charset="0"/>
                <a:ea typeface="Tahoma" panose="020B0604030504040204" pitchFamily="34" charset="0"/>
                <a:cs typeface="Tahoma" panose="020B0604030504040204" pitchFamily="34" charset="0"/>
              </a:rPr>
              <a:t>For any purchase over $</a:t>
            </a:r>
            <a:r>
              <a:rPr lang="en-US" sz="1800" cap="none" dirty="0" smtClean="0">
                <a:latin typeface="Tahoma" panose="020B0604030504040204" pitchFamily="34" charset="0"/>
                <a:ea typeface="Tahoma" panose="020B0604030504040204" pitchFamily="34" charset="0"/>
                <a:cs typeface="Tahoma" panose="020B0604030504040204" pitchFamily="34" charset="0"/>
              </a:rPr>
              <a:t>8.50, </a:t>
            </a:r>
            <a:r>
              <a:rPr lang="en-US" sz="1800" cap="none" dirty="0">
                <a:latin typeface="Tahoma" panose="020B0604030504040204" pitchFamily="34" charset="0"/>
                <a:ea typeface="Tahoma" panose="020B0604030504040204" pitchFamily="34" charset="0"/>
                <a:cs typeface="Tahoma" panose="020B0604030504040204" pitchFamily="34" charset="0"/>
              </a:rPr>
              <a:t>the employee is responsible for </a:t>
            </a:r>
            <a:r>
              <a:rPr lang="en-US" sz="1800" cap="none" dirty="0" smtClean="0">
                <a:latin typeface="Tahoma" panose="020B0604030504040204" pitchFamily="34" charset="0"/>
                <a:ea typeface="Tahoma" panose="020B0604030504040204" pitchFamily="34" charset="0"/>
                <a:cs typeface="Tahoma" panose="020B0604030504040204" pitchFamily="34" charset="0"/>
              </a:rPr>
              <a:t>paying for the remaining balance</a:t>
            </a:r>
            <a:r>
              <a:rPr lang="en-US" sz="1800" cap="none" dirty="0">
                <a:latin typeface="Tahoma" panose="020B0604030504040204" pitchFamily="34" charset="0"/>
                <a:ea typeface="Tahoma" panose="020B0604030504040204" pitchFamily="34" charset="0"/>
                <a:cs typeface="Tahoma" panose="020B0604030504040204" pitchFamily="34" charset="0"/>
              </a:rPr>
              <a:t> </a:t>
            </a:r>
            <a:r>
              <a:rPr lang="en-US" sz="1800" cap="none" dirty="0" smtClean="0">
                <a:latin typeface="Tahoma" panose="020B0604030504040204" pitchFamily="34" charset="0"/>
                <a:ea typeface="Tahoma" panose="020B0604030504040204" pitchFamily="34" charset="0"/>
                <a:cs typeface="Tahoma" panose="020B0604030504040204" pitchFamily="34" charset="0"/>
              </a:rPr>
              <a:t>with other (Hokie Passport, Dining Dollars, Flex, or Credit Card) funds.</a:t>
            </a:r>
          </a:p>
          <a:p>
            <a:r>
              <a:rPr lang="en-US" sz="1800" cap="none" dirty="0">
                <a:latin typeface="Tahoma" panose="020B0604030504040204" pitchFamily="34" charset="0"/>
                <a:ea typeface="Tahoma" panose="020B0604030504040204" pitchFamily="34" charset="0"/>
                <a:cs typeface="Tahoma" panose="020B0604030504040204" pitchFamily="34" charset="0"/>
              </a:rPr>
              <a:t>Food bought with meal plan funds is not permitted to leave the building (unless purchased by a student).  If any employee wishes to purchase food to take </a:t>
            </a:r>
            <a:r>
              <a:rPr lang="en-US" sz="1800" cap="none" dirty="0" smtClean="0">
                <a:latin typeface="Tahoma" panose="020B0604030504040204" pitchFamily="34" charset="0"/>
                <a:ea typeface="Tahoma" panose="020B0604030504040204" pitchFamily="34" charset="0"/>
                <a:cs typeface="Tahoma" panose="020B0604030504040204" pitchFamily="34" charset="0"/>
              </a:rPr>
              <a:t>home, they must pay </a:t>
            </a:r>
            <a:r>
              <a:rPr lang="en-US" sz="1800" cap="none" dirty="0">
                <a:latin typeface="Tahoma" panose="020B0604030504040204" pitchFamily="34" charset="0"/>
                <a:ea typeface="Tahoma" panose="020B0604030504040204" pitchFamily="34" charset="0"/>
                <a:cs typeface="Tahoma" panose="020B0604030504040204" pitchFamily="34" charset="0"/>
              </a:rPr>
              <a:t>with funds other than meal plan </a:t>
            </a:r>
            <a:r>
              <a:rPr lang="en-US" sz="1800" cap="none" dirty="0" smtClean="0">
                <a:latin typeface="Tahoma" panose="020B0604030504040204" pitchFamily="34" charset="0"/>
                <a:ea typeface="Tahoma" panose="020B0604030504040204" pitchFamily="34" charset="0"/>
                <a:cs typeface="Tahoma" panose="020B0604030504040204" pitchFamily="34" charset="0"/>
              </a:rPr>
              <a:t>money and </a:t>
            </a:r>
            <a:r>
              <a:rPr lang="en-US" sz="1800" cap="none" dirty="0">
                <a:latin typeface="Tahoma" panose="020B0604030504040204" pitchFamily="34" charset="0"/>
                <a:ea typeface="Tahoma" panose="020B0604030504040204" pitchFamily="34" charset="0"/>
                <a:cs typeface="Tahoma" panose="020B0604030504040204" pitchFamily="34" charset="0"/>
              </a:rPr>
              <a:t>they should keep the receipt and the food together in case any questions should arise. </a:t>
            </a:r>
          </a:p>
        </p:txBody>
      </p:sp>
    </p:spTree>
    <p:extLst>
      <p:ext uri="{BB962C8B-B14F-4D97-AF65-F5344CB8AC3E}">
        <p14:creationId xmlns:p14="http://schemas.microsoft.com/office/powerpoint/2010/main" val="16539851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338820"/>
            <a:ext cx="10364451" cy="876796"/>
          </a:xfrm>
        </p:spPr>
        <p:txBody>
          <a:bodyPr/>
          <a:lstStyle/>
          <a:p>
            <a:r>
              <a:rPr lang="en-US" dirty="0">
                <a:latin typeface="Berlin Sans FB" panose="020E0602020502020306" pitchFamily="34" charset="0"/>
              </a:rPr>
              <a:t>Employee Meal policies </a:t>
            </a:r>
            <a:endParaRPr lang="en-US" dirty="0"/>
          </a:p>
        </p:txBody>
      </p:sp>
      <p:sp>
        <p:nvSpPr>
          <p:cNvPr id="3" name="Content Placeholder 2"/>
          <p:cNvSpPr>
            <a:spLocks noGrp="1"/>
          </p:cNvSpPr>
          <p:nvPr>
            <p:ph sz="quarter" idx="13"/>
          </p:nvPr>
        </p:nvSpPr>
        <p:spPr>
          <a:xfrm>
            <a:off x="914399" y="1215616"/>
            <a:ext cx="10363826" cy="5642384"/>
          </a:xfrm>
        </p:spPr>
        <p:txBody>
          <a:bodyPr/>
          <a:lstStyle/>
          <a:p>
            <a:r>
              <a:rPr lang="en-US" sz="1800" cap="none" dirty="0">
                <a:latin typeface="Tahoma" panose="020B0604030504040204" pitchFamily="34" charset="0"/>
                <a:ea typeface="Tahoma" panose="020B0604030504040204" pitchFamily="34" charset="0"/>
                <a:cs typeface="Tahoma" panose="020B0604030504040204" pitchFamily="34" charset="0"/>
              </a:rPr>
              <a:t>Employees are not allowed to purchase any pre-packaged food items (except </a:t>
            </a:r>
            <a:r>
              <a:rPr lang="en-US" sz="1800" cap="none" dirty="0" smtClean="0">
                <a:latin typeface="Tahoma" panose="020B0604030504040204" pitchFamily="34" charset="0"/>
                <a:ea typeface="Tahoma" panose="020B0604030504040204" pitchFamily="34" charset="0"/>
                <a:cs typeface="Tahoma" panose="020B0604030504040204" pitchFamily="34" charset="0"/>
              </a:rPr>
              <a:t>chips – one bag per day </a:t>
            </a:r>
            <a:r>
              <a:rPr lang="en-US" sz="1800" cap="none" dirty="0">
                <a:latin typeface="Tahoma" panose="020B0604030504040204" pitchFamily="34" charset="0"/>
                <a:ea typeface="Tahoma" panose="020B0604030504040204" pitchFamily="34" charset="0"/>
                <a:cs typeface="Tahoma" panose="020B0604030504040204" pitchFamily="34" charset="0"/>
              </a:rPr>
              <a:t>and milk), bottled drinks (including Hokie water), lobster, steak, fish or high end cakes and pies</a:t>
            </a:r>
            <a:r>
              <a:rPr lang="en-US" sz="1800" cap="none" dirty="0" smtClean="0">
                <a:latin typeface="Tahoma" panose="020B0604030504040204" pitchFamily="34" charset="0"/>
                <a:ea typeface="Tahoma" panose="020B0604030504040204" pitchFamily="34" charset="0"/>
                <a:cs typeface="Tahoma" panose="020B0604030504040204" pitchFamily="34" charset="0"/>
              </a:rPr>
              <a:t>. </a:t>
            </a:r>
            <a:r>
              <a:rPr lang="en-US" sz="1800" cap="none" dirty="0">
                <a:latin typeface="Tahoma" panose="020B0604030504040204" pitchFamily="34" charset="0"/>
                <a:ea typeface="Tahoma" panose="020B0604030504040204" pitchFamily="34" charset="0"/>
                <a:cs typeface="Tahoma" panose="020B0604030504040204" pitchFamily="34" charset="0"/>
              </a:rPr>
              <a:t>Allowing an employee to purchase these items with employee meal plan funds will result in </a:t>
            </a:r>
            <a:r>
              <a:rPr lang="en-US" sz="1800" cap="none" dirty="0" smtClean="0">
                <a:latin typeface="Tahoma" panose="020B0604030504040204" pitchFamily="34" charset="0"/>
                <a:ea typeface="Tahoma" panose="020B0604030504040204" pitchFamily="34" charset="0"/>
                <a:cs typeface="Tahoma" panose="020B0604030504040204" pitchFamily="34" charset="0"/>
              </a:rPr>
              <a:t>disciplinary action, up to and including termination. </a:t>
            </a:r>
          </a:p>
          <a:p>
            <a:r>
              <a:rPr lang="en-US" sz="1800" cap="none" dirty="0">
                <a:latin typeface="Tahoma" panose="020B0604030504040204" pitchFamily="34" charset="0"/>
                <a:ea typeface="Tahoma" panose="020B0604030504040204" pitchFamily="34" charset="0"/>
                <a:cs typeface="Tahoma" panose="020B0604030504040204" pitchFamily="34" charset="0"/>
              </a:rPr>
              <a:t>Sharing of meal plan funds is not allowed.  </a:t>
            </a:r>
            <a:endParaRPr lang="en-US" sz="1800" cap="none" dirty="0" smtClean="0">
              <a:latin typeface="Tahoma" panose="020B0604030504040204" pitchFamily="34" charset="0"/>
              <a:ea typeface="Tahoma" panose="020B0604030504040204" pitchFamily="34" charset="0"/>
              <a:cs typeface="Tahoma" panose="020B0604030504040204" pitchFamily="34" charset="0"/>
            </a:endParaRPr>
          </a:p>
          <a:p>
            <a:pPr lvl="1"/>
            <a:r>
              <a:rPr lang="en-US" cap="none" dirty="0" smtClean="0">
                <a:latin typeface="Tahoma" panose="020B0604030504040204" pitchFamily="34" charset="0"/>
                <a:ea typeface="Tahoma" panose="020B0604030504040204" pitchFamily="34" charset="0"/>
                <a:cs typeface="Tahoma" panose="020B0604030504040204" pitchFamily="34" charset="0"/>
              </a:rPr>
              <a:t>If </a:t>
            </a:r>
            <a:r>
              <a:rPr lang="en-US" cap="none" dirty="0">
                <a:latin typeface="Tahoma" panose="020B0604030504040204" pitchFamily="34" charset="0"/>
                <a:ea typeface="Tahoma" panose="020B0604030504040204" pitchFamily="34" charset="0"/>
                <a:cs typeface="Tahoma" panose="020B0604030504040204" pitchFamily="34" charset="0"/>
              </a:rPr>
              <a:t>Joe wants a cupcake but doesn’t have enough money left on his employee meal plan, Jane can’t use her employee meal plans to cover the difference.  Jane can use her Hokie Passport, personal meal plan, or Dining Dollars to cover Joe. </a:t>
            </a:r>
          </a:p>
          <a:p>
            <a:r>
              <a:rPr lang="en-US" sz="1800" cap="none" dirty="0">
                <a:latin typeface="Tahoma" panose="020B0604030504040204" pitchFamily="34" charset="0"/>
                <a:ea typeface="Tahoma" panose="020B0604030504040204" pitchFamily="34" charset="0"/>
                <a:cs typeface="Tahoma" panose="020B0604030504040204" pitchFamily="34" charset="0"/>
              </a:rPr>
              <a:t>Giving away soda and water cups to customers is considered theft and will be dealt with as such. </a:t>
            </a:r>
            <a:endParaRPr lang="en-US" sz="1800" cap="none" dirty="0" smtClean="0">
              <a:latin typeface="Tahoma" panose="020B0604030504040204" pitchFamily="34" charset="0"/>
              <a:ea typeface="Tahoma" panose="020B0604030504040204" pitchFamily="34" charset="0"/>
              <a:cs typeface="Tahoma" panose="020B0604030504040204" pitchFamily="34" charset="0"/>
            </a:endParaRPr>
          </a:p>
          <a:p>
            <a:pPr lvl="1"/>
            <a:r>
              <a:rPr lang="en-US" cap="none" dirty="0" smtClean="0">
                <a:latin typeface="Tahoma" panose="020B0604030504040204" pitchFamily="34" charset="0"/>
                <a:ea typeface="Tahoma" panose="020B0604030504040204" pitchFamily="34" charset="0"/>
                <a:cs typeface="Tahoma" panose="020B0604030504040204" pitchFamily="34" charset="0"/>
              </a:rPr>
              <a:t>Dining </a:t>
            </a:r>
            <a:r>
              <a:rPr lang="en-US" cap="none" dirty="0">
                <a:latin typeface="Tahoma" panose="020B0604030504040204" pitchFamily="34" charset="0"/>
                <a:ea typeface="Tahoma" panose="020B0604030504040204" pitchFamily="34" charset="0"/>
                <a:cs typeface="Tahoma" panose="020B0604030504040204" pitchFamily="34" charset="0"/>
              </a:rPr>
              <a:t>Service employees who are using a meal pass are allowed a free drink.  West End employees who are currently working a shift are also allowed free </a:t>
            </a:r>
            <a:r>
              <a:rPr lang="en-US" cap="none" dirty="0" smtClean="0">
                <a:latin typeface="Tahoma" panose="020B0604030504040204" pitchFamily="34" charset="0"/>
                <a:ea typeface="Tahoma" panose="020B0604030504040204" pitchFamily="34" charset="0"/>
                <a:cs typeface="Tahoma" panose="020B0604030504040204" pitchFamily="34" charset="0"/>
              </a:rPr>
              <a:t>drink.  </a:t>
            </a:r>
            <a:endParaRPr lang="en-US" cap="none" dirty="0">
              <a:latin typeface="Tahoma" panose="020B0604030504040204" pitchFamily="34" charset="0"/>
              <a:ea typeface="Tahoma" panose="020B0604030504040204" pitchFamily="34" charset="0"/>
              <a:cs typeface="Tahoma" panose="020B0604030504040204" pitchFamily="34" charset="0"/>
            </a:endParaRPr>
          </a:p>
          <a:p>
            <a:r>
              <a:rPr lang="en-US" sz="1800" cap="none" dirty="0" smtClean="0">
                <a:latin typeface="Tahoma" panose="020B0604030504040204" pitchFamily="34" charset="0"/>
                <a:ea typeface="Tahoma" panose="020B0604030504040204" pitchFamily="34" charset="0"/>
                <a:cs typeface="Tahoma" panose="020B0604030504040204" pitchFamily="34" charset="0"/>
              </a:rPr>
              <a:t>When students (they are the only ones who are allowed to take their meals to go) are using their employee meal pass during normal operating hours and order their food to go, they need to be charged (if applicable) for to go boxes because they are choosing to take their food to go. </a:t>
            </a:r>
          </a:p>
          <a:p>
            <a:pPr lvl="1"/>
            <a:r>
              <a:rPr lang="en-US" sz="1600" cap="none" dirty="0" smtClean="0">
                <a:latin typeface="Tahoma" panose="020B0604030504040204" pitchFamily="34" charset="0"/>
                <a:ea typeface="Tahoma" panose="020B0604030504040204" pitchFamily="34" charset="0"/>
                <a:cs typeface="Tahoma" panose="020B0604030504040204" pitchFamily="34" charset="0"/>
              </a:rPr>
              <a:t>Only at the end of the night are students to take their food to go and not get charged for a to go box.</a:t>
            </a:r>
            <a:endParaRPr lang="en-US" sz="1600" cap="none"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486538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898311"/>
          </a:xfrm>
        </p:spPr>
        <p:txBody>
          <a:bodyPr/>
          <a:lstStyle/>
          <a:p>
            <a:r>
              <a:rPr lang="en-US" dirty="0" smtClean="0">
                <a:latin typeface="Berlin Sans FB" panose="020E0602020502020306" pitchFamily="34" charset="0"/>
              </a:rPr>
              <a:t>Paperwork – beginning of shift </a:t>
            </a:r>
            <a:endParaRPr lang="en-US" dirty="0"/>
          </a:p>
        </p:txBody>
      </p:sp>
      <p:pic>
        <p:nvPicPr>
          <p:cNvPr id="3" name="Picture 2"/>
          <p:cNvPicPr>
            <a:picLocks noChangeAspect="1"/>
          </p:cNvPicPr>
          <p:nvPr/>
        </p:nvPicPr>
        <p:blipFill>
          <a:blip r:embed="rId3"/>
          <a:stretch>
            <a:fillRect/>
          </a:stretch>
        </p:blipFill>
        <p:spPr>
          <a:xfrm>
            <a:off x="292458" y="1645920"/>
            <a:ext cx="6162130" cy="4777743"/>
          </a:xfrm>
          <a:prstGeom prst="rect">
            <a:avLst/>
          </a:prstGeom>
        </p:spPr>
      </p:pic>
      <p:sp>
        <p:nvSpPr>
          <p:cNvPr id="4" name="TextBox 3"/>
          <p:cNvSpPr txBox="1"/>
          <p:nvPr/>
        </p:nvSpPr>
        <p:spPr>
          <a:xfrm>
            <a:off x="6766559" y="2326631"/>
            <a:ext cx="4797911" cy="3416320"/>
          </a:xfrm>
          <a:prstGeom prst="rect">
            <a:avLst/>
          </a:prstGeom>
          <a:noFill/>
        </p:spPr>
        <p:txBody>
          <a:bodyPr wrap="square" rtlCol="0">
            <a:spAutoFit/>
          </a:bodyPr>
          <a:lstStyle/>
          <a:p>
            <a:pPr marL="285750" indent="-285750">
              <a:buFont typeface="Arial" panose="020B0604020202020204" pitchFamily="34" charset="0"/>
              <a:buChar char="•"/>
            </a:pPr>
            <a:r>
              <a:rPr lang="en-US" dirty="0" smtClean="0">
                <a:latin typeface="Tahoma" panose="020B0604030504040204" pitchFamily="34" charset="0"/>
                <a:ea typeface="Tahoma" panose="020B0604030504040204" pitchFamily="34" charset="0"/>
                <a:cs typeface="Tahoma" panose="020B0604030504040204" pitchFamily="34" charset="0"/>
              </a:rPr>
              <a:t>You will fill out the Register Log each time you receive a clerk card from the kiosk. </a:t>
            </a:r>
          </a:p>
          <a:p>
            <a:pPr marL="285750" indent="-285750">
              <a:buFont typeface="Arial" panose="020B0604020202020204" pitchFamily="34" charset="0"/>
              <a:buChar char="•"/>
            </a:pPr>
            <a:r>
              <a:rPr lang="en-US" dirty="0" smtClean="0">
                <a:latin typeface="Tahoma" panose="020B0604030504040204" pitchFamily="34" charset="0"/>
                <a:ea typeface="Tahoma" panose="020B0604030504040204" pitchFamily="34" charset="0"/>
                <a:cs typeface="Tahoma" panose="020B0604030504040204" pitchFamily="34" charset="0"/>
              </a:rPr>
              <a:t>When you are taking the clerk card from the kiosk, you’ll write the time you are signing the card out under “TIME OUT”, the CARD # and PRINT your NAME.  </a:t>
            </a:r>
          </a:p>
          <a:p>
            <a:pPr marL="285750" indent="-285750">
              <a:buFont typeface="Arial" panose="020B0604020202020204" pitchFamily="34" charset="0"/>
              <a:buChar char="•"/>
            </a:pPr>
            <a:r>
              <a:rPr lang="en-US" dirty="0" smtClean="0">
                <a:latin typeface="Tahoma" panose="020B0604030504040204" pitchFamily="34" charset="0"/>
                <a:ea typeface="Tahoma" panose="020B0604030504040204" pitchFamily="34" charset="0"/>
                <a:cs typeface="Tahoma" panose="020B0604030504040204" pitchFamily="34" charset="0"/>
              </a:rPr>
              <a:t>After your shift is over, you’ll write the time you are turning the card in under “TIME IN”, the number of the register(s) you used and then you will sign your name.  </a:t>
            </a:r>
          </a:p>
          <a:p>
            <a:pPr marL="285750" indent="-285750">
              <a:buFont typeface="Arial" panose="020B0604020202020204" pitchFamily="34" charset="0"/>
              <a:buChar char="•"/>
            </a:pPr>
            <a:r>
              <a:rPr lang="en-US" dirty="0" smtClean="0">
                <a:latin typeface="Tahoma" panose="020B0604030504040204" pitchFamily="34" charset="0"/>
                <a:ea typeface="Tahoma" panose="020B0604030504040204" pitchFamily="34" charset="0"/>
                <a:cs typeface="Tahoma" panose="020B0604030504040204" pitchFamily="34" charset="0"/>
              </a:rPr>
              <a:t>The last 2 columns are for office use.  </a:t>
            </a:r>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107095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8"/>
            <a:ext cx="10364451" cy="511036"/>
          </a:xfrm>
        </p:spPr>
        <p:txBody>
          <a:bodyPr>
            <a:noAutofit/>
          </a:bodyPr>
          <a:lstStyle/>
          <a:p>
            <a:r>
              <a:rPr lang="en-US" sz="4000" dirty="0" smtClean="0">
                <a:latin typeface="Berlin Sans FB" panose="020E0602020502020306" pitchFamily="34" charset="0"/>
                <a:ea typeface="Tahoma" panose="020B0604030504040204" pitchFamily="34" charset="0"/>
                <a:cs typeface="Tahoma" panose="020B0604030504040204" pitchFamily="34" charset="0"/>
              </a:rPr>
              <a:t>Using the Micros </a:t>
            </a:r>
            <a:endParaRPr lang="en-US" sz="4000" dirty="0">
              <a:latin typeface="Berlin Sans FB" panose="020E0602020502020306" pitchFamily="34" charset="0"/>
              <a:ea typeface="Tahoma" panose="020B0604030504040204" pitchFamily="34" charset="0"/>
              <a:cs typeface="Tahoma" panose="020B0604030504040204" pitchFamily="34" charset="0"/>
            </a:endParaRPr>
          </a:p>
        </p:txBody>
      </p:sp>
      <p:pic>
        <p:nvPicPr>
          <p:cNvPr id="4" name="Content Placeholder 3"/>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418923" y="4963155"/>
            <a:ext cx="2560946" cy="1654951"/>
          </a:xfrm>
        </p:spPr>
      </p:pic>
      <p:sp>
        <p:nvSpPr>
          <p:cNvPr id="5" name="TextBox 4"/>
          <p:cNvSpPr txBox="1"/>
          <p:nvPr/>
        </p:nvSpPr>
        <p:spPr>
          <a:xfrm>
            <a:off x="1721222" y="1265537"/>
            <a:ext cx="9197789" cy="1015663"/>
          </a:xfrm>
          <a:prstGeom prst="rect">
            <a:avLst/>
          </a:prstGeom>
          <a:noFill/>
        </p:spPr>
        <p:txBody>
          <a:bodyPr wrap="square" rtlCol="0">
            <a:spAutoFit/>
          </a:bodyPr>
          <a:lstStyle/>
          <a:p>
            <a:pPr algn="ctr"/>
            <a:r>
              <a:rPr lang="en-US" sz="2000" dirty="0" smtClean="0">
                <a:latin typeface="Tahoma" panose="020B0604030504040204" pitchFamily="34" charset="0"/>
                <a:ea typeface="Tahoma" panose="020B0604030504040204" pitchFamily="34" charset="0"/>
                <a:cs typeface="Tahoma" panose="020B0604030504040204" pitchFamily="34" charset="0"/>
              </a:rPr>
              <a:t>To begin your shift as a cashier, you will need to go to the Kiosk and ask the attendant for a Clerk Card.  Make sure you let them know which shop you are working in.  Each shop has a different set of clerk cards.  </a:t>
            </a:r>
            <a:endParaRPr 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8237" y="2281201"/>
            <a:ext cx="1658296" cy="2394046"/>
          </a:xfrm>
          <a:prstGeom prst="rect">
            <a:avLst/>
          </a:prstGeom>
        </p:spPr>
      </p:pic>
      <p:sp>
        <p:nvSpPr>
          <p:cNvPr id="7" name="Left Arrow 6"/>
          <p:cNvSpPr/>
          <p:nvPr/>
        </p:nvSpPr>
        <p:spPr>
          <a:xfrm>
            <a:off x="2621280" y="2363707"/>
            <a:ext cx="6949439" cy="1978828"/>
          </a:xfrm>
          <a:prstGeom prst="leftArrow">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3555403" y="2876067"/>
            <a:ext cx="6314738" cy="954107"/>
          </a:xfrm>
          <a:prstGeom prst="rect">
            <a:avLst/>
          </a:prstGeom>
          <a:noFill/>
        </p:spPr>
        <p:txBody>
          <a:bodyPr wrap="square" rtlCol="0">
            <a:spAutoFit/>
          </a:bodyPr>
          <a:lstStyle/>
          <a:p>
            <a:pPr algn="ctr"/>
            <a:r>
              <a:rPr lang="en-US" sz="1400" dirty="0" smtClean="0">
                <a:latin typeface="Tahoma" panose="020B0604030504040204" pitchFamily="34" charset="0"/>
                <a:ea typeface="Tahoma" panose="020B0604030504040204" pitchFamily="34" charset="0"/>
                <a:cs typeface="Tahoma" panose="020B0604030504040204" pitchFamily="34" charset="0"/>
              </a:rPr>
              <a:t>The kiosk attendant will give you an envelope that has the shop and clerk card number on the outside.  The actual clerk card will be inside this envelope.  During your shift, use this envelope to store all of your credit card receipts, refund receipts, coupons, etc.</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9" name="Left Arrow 8"/>
          <p:cNvSpPr/>
          <p:nvPr/>
        </p:nvSpPr>
        <p:spPr>
          <a:xfrm>
            <a:off x="3065930" y="4963155"/>
            <a:ext cx="6863378" cy="1591553"/>
          </a:xfrm>
          <a:prstGeom prst="leftArrow">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3614569" y="5400339"/>
            <a:ext cx="6314739" cy="738664"/>
          </a:xfrm>
          <a:prstGeom prst="rect">
            <a:avLst/>
          </a:prstGeom>
          <a:noFill/>
        </p:spPr>
        <p:txBody>
          <a:bodyPr wrap="square" rtlCol="0">
            <a:spAutoFit/>
          </a:bodyPr>
          <a:lstStyle/>
          <a:p>
            <a:pPr algn="ctr"/>
            <a:r>
              <a:rPr lang="en-US" sz="1400" dirty="0" smtClean="0">
                <a:latin typeface="Tahoma" panose="020B0604030504040204" pitchFamily="34" charset="0"/>
                <a:ea typeface="Tahoma" panose="020B0604030504040204" pitchFamily="34" charset="0"/>
                <a:cs typeface="Tahoma" panose="020B0604030504040204" pitchFamily="34" charset="0"/>
              </a:rPr>
              <a:t>This is an actual clerk card.  The last three digits of the long number are the number of your clerk card.  It will also have WEM and the shop listed on it.  You will swipe this card on the Micros to “sign in” to the register.   </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11" name="Oval 10"/>
          <p:cNvSpPr/>
          <p:nvPr/>
        </p:nvSpPr>
        <p:spPr>
          <a:xfrm>
            <a:off x="2398955" y="5549202"/>
            <a:ext cx="392656" cy="277692"/>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02909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650885"/>
          </a:xfrm>
        </p:spPr>
        <p:txBody>
          <a:bodyPr/>
          <a:lstStyle/>
          <a:p>
            <a:r>
              <a:rPr lang="en-US" dirty="0">
                <a:latin typeface="Berlin Sans FB" panose="020E0602020502020306" pitchFamily="34" charset="0"/>
                <a:ea typeface="Tahoma" panose="020B0604030504040204" pitchFamily="34" charset="0"/>
                <a:cs typeface="Tahoma" panose="020B0604030504040204" pitchFamily="34" charset="0"/>
              </a:rPr>
              <a:t>Using the Micros </a:t>
            </a:r>
            <a:endParaRPr lang="en-US" dirty="0"/>
          </a:p>
        </p:txBody>
      </p:sp>
      <p:sp>
        <p:nvSpPr>
          <p:cNvPr id="3" name="Content Placeholder 2"/>
          <p:cNvSpPr>
            <a:spLocks noGrp="1"/>
          </p:cNvSpPr>
          <p:nvPr>
            <p:ph sz="quarter" idx="13"/>
          </p:nvPr>
        </p:nvSpPr>
        <p:spPr>
          <a:xfrm>
            <a:off x="999836" y="1807694"/>
            <a:ext cx="10363826" cy="3424107"/>
          </a:xfrm>
        </p:spPr>
        <p:txBody>
          <a:bodyPr/>
          <a:lstStyle/>
          <a:p>
            <a:r>
              <a:rPr lang="en-US" cap="none" dirty="0" smtClean="0">
                <a:latin typeface="Tahoma" panose="020B0604030504040204" pitchFamily="34" charset="0"/>
                <a:ea typeface="Tahoma" panose="020B0604030504040204" pitchFamily="34" charset="0"/>
                <a:cs typeface="Tahoma" panose="020B0604030504040204" pitchFamily="34" charset="0"/>
              </a:rPr>
              <a:t>You will be shown how to ring in orders when you go back to your shop.</a:t>
            </a:r>
          </a:p>
          <a:p>
            <a:r>
              <a:rPr lang="en-US" cap="none" dirty="0" smtClean="0">
                <a:latin typeface="Tahoma" panose="020B0604030504040204" pitchFamily="34" charset="0"/>
                <a:ea typeface="Tahoma" panose="020B0604030504040204" pitchFamily="34" charset="0"/>
                <a:cs typeface="Tahoma" panose="020B0604030504040204" pitchFamily="34" charset="0"/>
              </a:rPr>
              <a:t>Whenever you need to step away from the Micros, you will need to sign out.  No one should be ringing orders under your clerk card.  It’s a violation of policy and could result in disciplinary actions.  </a:t>
            </a:r>
          </a:p>
          <a:p>
            <a:r>
              <a:rPr lang="en-US" cap="none" dirty="0" smtClean="0">
                <a:latin typeface="Tahoma" panose="020B0604030504040204" pitchFamily="34" charset="0"/>
                <a:ea typeface="Tahoma" panose="020B0604030504040204" pitchFamily="34" charset="0"/>
                <a:cs typeface="Tahoma" panose="020B0604030504040204" pitchFamily="34" charset="0"/>
              </a:rPr>
              <a:t>Never share clerk cards. </a:t>
            </a:r>
          </a:p>
          <a:p>
            <a:r>
              <a:rPr lang="en-US" cap="none" dirty="0" smtClean="0">
                <a:latin typeface="Tahoma" panose="020B0604030504040204" pitchFamily="34" charset="0"/>
                <a:ea typeface="Tahoma" panose="020B0604030504040204" pitchFamily="34" charset="0"/>
                <a:cs typeface="Tahoma" panose="020B0604030504040204" pitchFamily="34" charset="0"/>
              </a:rPr>
              <a:t>Smile.</a:t>
            </a:r>
          </a:p>
          <a:p>
            <a:r>
              <a:rPr lang="en-US" cap="none" dirty="0" smtClean="0">
                <a:latin typeface="Tahoma" panose="020B0604030504040204" pitchFamily="34" charset="0"/>
                <a:ea typeface="Tahoma" panose="020B0604030504040204" pitchFamily="34" charset="0"/>
                <a:cs typeface="Tahoma" panose="020B0604030504040204" pitchFamily="34" charset="0"/>
              </a:rPr>
              <a:t>Ask questions when you have them.  Never assume the answer.  </a:t>
            </a:r>
            <a:endParaRPr lang="en-US" cap="none"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105585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3774" y="123217"/>
            <a:ext cx="10364451" cy="1596177"/>
          </a:xfrm>
        </p:spPr>
        <p:txBody>
          <a:bodyPr>
            <a:normAutofit/>
          </a:bodyPr>
          <a:lstStyle/>
          <a:p>
            <a:r>
              <a:rPr lang="en-US" dirty="0" smtClean="0">
                <a:latin typeface="Berlin Sans FB" panose="020E0602020502020306" pitchFamily="34" charset="0"/>
              </a:rPr>
              <a:t>To Go containers </a:t>
            </a:r>
            <a:endParaRPr lang="en-US" dirty="0"/>
          </a:p>
        </p:txBody>
      </p:sp>
      <p:sp>
        <p:nvSpPr>
          <p:cNvPr id="6" name="Content Placeholder 5"/>
          <p:cNvSpPr>
            <a:spLocks noGrp="1"/>
          </p:cNvSpPr>
          <p:nvPr>
            <p:ph sz="quarter" idx="13"/>
          </p:nvPr>
        </p:nvSpPr>
        <p:spPr>
          <a:xfrm>
            <a:off x="913774" y="2367092"/>
            <a:ext cx="5106026" cy="4376608"/>
          </a:xfrm>
        </p:spPr>
        <p:txBody>
          <a:bodyPr>
            <a:normAutofit lnSpcReduction="10000"/>
          </a:bodyPr>
          <a:lstStyle/>
          <a:p>
            <a:r>
              <a:rPr lang="en-US" dirty="0" smtClean="0">
                <a:latin typeface="Tahoma" panose="020B0604030504040204" pitchFamily="34" charset="0"/>
                <a:ea typeface="Tahoma" panose="020B0604030504040204" pitchFamily="34" charset="0"/>
                <a:cs typeface="Tahoma" panose="020B0604030504040204" pitchFamily="34" charset="0"/>
              </a:rPr>
              <a:t>C</a:t>
            </a:r>
            <a:r>
              <a:rPr lang="en-US" cap="none" dirty="0" smtClean="0">
                <a:latin typeface="Tahoma" panose="020B0604030504040204" pitchFamily="34" charset="0"/>
                <a:ea typeface="Tahoma" panose="020B0604030504040204" pitchFamily="34" charset="0"/>
                <a:cs typeface="Tahoma" panose="020B0604030504040204" pitchFamily="34" charset="0"/>
              </a:rPr>
              <a:t>ompostable To Go Containers</a:t>
            </a:r>
          </a:p>
          <a:p>
            <a:pPr lvl="1"/>
            <a:r>
              <a:rPr lang="en-US" cap="none" dirty="0" smtClean="0">
                <a:latin typeface="Tahoma" panose="020B0604030504040204" pitchFamily="34" charset="0"/>
                <a:ea typeface="Tahoma" panose="020B0604030504040204" pitchFamily="34" charset="0"/>
                <a:cs typeface="Tahoma" panose="020B0604030504040204" pitchFamily="34" charset="0"/>
              </a:rPr>
              <a:t>These are our standard containers used when customers ask for their food “to go”</a:t>
            </a:r>
          </a:p>
          <a:p>
            <a:pPr lvl="1"/>
            <a:r>
              <a:rPr lang="en-US" cap="none" dirty="0" smtClean="0">
                <a:latin typeface="Tahoma" panose="020B0604030504040204" pitchFamily="34" charset="0"/>
                <a:ea typeface="Tahoma" panose="020B0604030504040204" pitchFamily="34" charset="0"/>
                <a:cs typeface="Tahoma" panose="020B0604030504040204" pitchFamily="34" charset="0"/>
              </a:rPr>
              <a:t>2 sizes – 9x9 and 6 in.</a:t>
            </a:r>
          </a:p>
          <a:p>
            <a:pPr lvl="1"/>
            <a:r>
              <a:rPr lang="en-US" cap="none" dirty="0" smtClean="0">
                <a:latin typeface="Tahoma" panose="020B0604030504040204" pitchFamily="34" charset="0"/>
                <a:ea typeface="Tahoma" panose="020B0604030504040204" pitchFamily="34" charset="0"/>
                <a:cs typeface="Tahoma" panose="020B0604030504040204" pitchFamily="34" charset="0"/>
              </a:rPr>
              <a:t>Each 9x9 container costs the customer $.20 ($.10 with the flex discount). </a:t>
            </a:r>
          </a:p>
          <a:p>
            <a:pPr lvl="2"/>
            <a:r>
              <a:rPr lang="en-US" cap="none" dirty="0" smtClean="0">
                <a:latin typeface="Tahoma" panose="020B0604030504040204" pitchFamily="34" charset="0"/>
                <a:ea typeface="Tahoma" panose="020B0604030504040204" pitchFamily="34" charset="0"/>
                <a:cs typeface="Tahoma" panose="020B0604030504040204" pitchFamily="34" charset="0"/>
              </a:rPr>
              <a:t>If a customer orders multiple items and the entire order will not fit into a 9x9 to go box, </a:t>
            </a:r>
            <a:r>
              <a:rPr lang="en-US" u="sng" cap="none" dirty="0" smtClean="0">
                <a:latin typeface="Tahoma" panose="020B0604030504040204" pitchFamily="34" charset="0"/>
                <a:ea typeface="Tahoma" panose="020B0604030504040204" pitchFamily="34" charset="0"/>
                <a:cs typeface="Tahoma" panose="020B0604030504040204" pitchFamily="34" charset="0"/>
              </a:rPr>
              <a:t>they are charged for each to go box used for their order. </a:t>
            </a:r>
          </a:p>
          <a:p>
            <a:pPr lvl="1"/>
            <a:r>
              <a:rPr lang="en-US" cap="none" dirty="0" smtClean="0">
                <a:latin typeface="Tahoma" panose="020B0604030504040204" pitchFamily="34" charset="0"/>
                <a:ea typeface="Tahoma" panose="020B0604030504040204" pitchFamily="34" charset="0"/>
                <a:cs typeface="Tahoma" panose="020B0604030504040204" pitchFamily="34" charset="0"/>
              </a:rPr>
              <a:t>If a customer orders food for here and then changes their mind and wants a to go box, then they must pay for it.  </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7" name="Content Placeholder 6"/>
          <p:cNvSpPr>
            <a:spLocks noGrp="1"/>
          </p:cNvSpPr>
          <p:nvPr>
            <p:ph sz="quarter" idx="14"/>
          </p:nvPr>
        </p:nvSpPr>
        <p:spPr>
          <a:xfrm>
            <a:off x="6172200" y="2713456"/>
            <a:ext cx="5106025" cy="3645781"/>
          </a:xfrm>
        </p:spPr>
        <p:txBody>
          <a:bodyPr>
            <a:normAutofit fontScale="77500" lnSpcReduction="20000"/>
          </a:bodyPr>
          <a:lstStyle/>
          <a:p>
            <a:r>
              <a:rPr lang="en-US" cap="none" dirty="0" smtClean="0">
                <a:latin typeface="Tahoma" panose="020B0604030504040204" pitchFamily="34" charset="0"/>
                <a:ea typeface="Tahoma" panose="020B0604030504040204" pitchFamily="34" charset="0"/>
                <a:cs typeface="Tahoma" panose="020B0604030504040204" pitchFamily="34" charset="0"/>
              </a:rPr>
              <a:t>Reusable To Go Containers (Green To Go Boxes)</a:t>
            </a:r>
          </a:p>
          <a:p>
            <a:pPr lvl="1"/>
            <a:r>
              <a:rPr lang="en-US" cap="none" dirty="0">
                <a:latin typeface="Tahoma" panose="020B0604030504040204" pitchFamily="34" charset="0"/>
                <a:ea typeface="Tahoma" panose="020B0604030504040204" pitchFamily="34" charset="0"/>
                <a:cs typeface="Tahoma" panose="020B0604030504040204" pitchFamily="34" charset="0"/>
              </a:rPr>
              <a:t>As an alternative to the compostable to go boxes, customers have the option of </a:t>
            </a:r>
            <a:r>
              <a:rPr lang="en-US" cap="none" dirty="0" smtClean="0">
                <a:latin typeface="Tahoma" panose="020B0604030504040204" pitchFamily="34" charset="0"/>
                <a:ea typeface="Tahoma" panose="020B0604030504040204" pitchFamily="34" charset="0"/>
                <a:cs typeface="Tahoma" panose="020B0604030504040204" pitchFamily="34" charset="0"/>
              </a:rPr>
              <a:t>using </a:t>
            </a:r>
            <a:r>
              <a:rPr lang="en-US" cap="none" dirty="0">
                <a:latin typeface="Tahoma" panose="020B0604030504040204" pitchFamily="34" charset="0"/>
                <a:ea typeface="Tahoma" panose="020B0604030504040204" pitchFamily="34" charset="0"/>
                <a:cs typeface="Tahoma" panose="020B0604030504040204" pitchFamily="34" charset="0"/>
              </a:rPr>
              <a:t>a reusable to go box.  </a:t>
            </a:r>
            <a:endParaRPr lang="en-US" cap="none" dirty="0" smtClean="0">
              <a:latin typeface="Tahoma" panose="020B0604030504040204" pitchFamily="34" charset="0"/>
              <a:ea typeface="Tahoma" panose="020B0604030504040204" pitchFamily="34" charset="0"/>
              <a:cs typeface="Tahoma" panose="020B0604030504040204" pitchFamily="34" charset="0"/>
            </a:endParaRPr>
          </a:p>
          <a:p>
            <a:pPr lvl="1"/>
            <a:r>
              <a:rPr lang="en-US" cap="none" dirty="0" smtClean="0">
                <a:latin typeface="Tahoma" panose="020B0604030504040204" pitchFamily="34" charset="0"/>
                <a:ea typeface="Tahoma" panose="020B0604030504040204" pitchFamily="34" charset="0"/>
                <a:cs typeface="Tahoma" panose="020B0604030504040204" pitchFamily="34" charset="0"/>
              </a:rPr>
              <a:t>All staff and students with a Hokie Passports have been given 3 virtual tokens on their Hokie Passport.  </a:t>
            </a:r>
          </a:p>
          <a:p>
            <a:pPr lvl="1"/>
            <a:r>
              <a:rPr lang="en-US" cap="none" dirty="0" smtClean="0">
                <a:latin typeface="Tahoma" panose="020B0604030504040204" pitchFamily="34" charset="0"/>
                <a:ea typeface="Tahoma" panose="020B0604030504040204" pitchFamily="34" charset="0"/>
                <a:cs typeface="Tahoma" panose="020B0604030504040204" pitchFamily="34" charset="0"/>
              </a:rPr>
              <a:t>One box is $7.00 Flex/$3.50 Cash or Hokie Passport.  If someone paying with a credit card or loses their boxes, they can still buy into the program.</a:t>
            </a:r>
          </a:p>
          <a:p>
            <a:pPr lvl="1"/>
            <a:r>
              <a:rPr lang="en-US" cap="none" dirty="0">
                <a:latin typeface="Tahoma" panose="020B0604030504040204" pitchFamily="34" charset="0"/>
                <a:ea typeface="Tahoma" panose="020B0604030504040204" pitchFamily="34" charset="0"/>
                <a:cs typeface="Tahoma" panose="020B0604030504040204" pitchFamily="34" charset="0"/>
              </a:rPr>
              <a:t>C</a:t>
            </a:r>
            <a:r>
              <a:rPr lang="en-US" cap="none" dirty="0" smtClean="0">
                <a:latin typeface="Tahoma" panose="020B0604030504040204" pitchFamily="34" charset="0"/>
                <a:ea typeface="Tahoma" panose="020B0604030504040204" pitchFamily="34" charset="0"/>
                <a:cs typeface="Tahoma" panose="020B0604030504040204" pitchFamily="34" charset="0"/>
              </a:rPr>
              <a:t>ustomers inform the cashier they want their food in a reusable to go box and give the cashier an Ozzi token</a:t>
            </a:r>
            <a:r>
              <a:rPr lang="en-US" cap="none" dirty="0">
                <a:latin typeface="Tahoma" panose="020B0604030504040204" pitchFamily="34" charset="0"/>
                <a:ea typeface="Tahoma" panose="020B0604030504040204" pitchFamily="34" charset="0"/>
                <a:cs typeface="Tahoma" panose="020B0604030504040204" pitchFamily="34" charset="0"/>
              </a:rPr>
              <a:t> </a:t>
            </a:r>
            <a:r>
              <a:rPr lang="en-US" cap="none" dirty="0" smtClean="0">
                <a:latin typeface="Tahoma" panose="020B0604030504040204" pitchFamily="34" charset="0"/>
                <a:ea typeface="Tahoma" panose="020B0604030504040204" pitchFamily="34" charset="0"/>
                <a:cs typeface="Tahoma" panose="020B0604030504040204" pitchFamily="34" charset="0"/>
              </a:rPr>
              <a:t>or the cashier swipes for a virtual token.  </a:t>
            </a:r>
          </a:p>
        </p:txBody>
      </p:sp>
      <p:sp>
        <p:nvSpPr>
          <p:cNvPr id="5" name="TextBox 4"/>
          <p:cNvSpPr txBox="1"/>
          <p:nvPr/>
        </p:nvSpPr>
        <p:spPr>
          <a:xfrm>
            <a:off x="1873250" y="1396228"/>
            <a:ext cx="8293100" cy="830997"/>
          </a:xfrm>
          <a:prstGeom prst="rect">
            <a:avLst/>
          </a:prstGeom>
          <a:noFill/>
        </p:spPr>
        <p:txBody>
          <a:bodyPr wrap="square" rtlCol="0">
            <a:spAutoFit/>
          </a:bodyPr>
          <a:lstStyle/>
          <a:p>
            <a:pPr algn="ctr"/>
            <a:r>
              <a:rPr lang="en-US" sz="2400" dirty="0" smtClean="0">
                <a:latin typeface="Berlin Sans FB" panose="020E0602020502020306" pitchFamily="34" charset="0"/>
              </a:rPr>
              <a:t>West End Market has several to go options available to our customers who choose not to dine in with us.  </a:t>
            </a:r>
            <a:endParaRPr lang="en-US" sz="2400" dirty="0">
              <a:latin typeface="Berlin Sans FB" panose="020E0602020502020306" pitchFamily="34" charset="0"/>
            </a:endParaRPr>
          </a:p>
        </p:txBody>
      </p:sp>
    </p:spTree>
    <p:extLst>
      <p:ext uri="{BB962C8B-B14F-4D97-AF65-F5344CB8AC3E}">
        <p14:creationId xmlns:p14="http://schemas.microsoft.com/office/powerpoint/2010/main" val="24836757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015375" y="665083"/>
            <a:ext cx="10364451" cy="930883"/>
          </a:xfrm>
        </p:spPr>
        <p:txBody>
          <a:bodyPr>
            <a:normAutofit fontScale="90000"/>
          </a:bodyPr>
          <a:lstStyle/>
          <a:p>
            <a:r>
              <a:rPr lang="en-US" dirty="0" smtClean="0">
                <a:latin typeface="Berlin Sans FB" panose="020E0602020502020306" pitchFamily="34" charset="0"/>
              </a:rPr>
              <a:t>Virtual Token Reusable to go container process</a:t>
            </a:r>
            <a:endParaRPr lang="en-US" dirty="0">
              <a:latin typeface="Berlin Sans FB" panose="020E0602020502020306" pitchFamily="34" charset="0"/>
            </a:endParaRPr>
          </a:p>
        </p:txBody>
      </p:sp>
      <p:graphicFrame>
        <p:nvGraphicFramePr>
          <p:cNvPr id="6" name="Diagram 5"/>
          <p:cNvGraphicFramePr/>
          <p:nvPr>
            <p:extLst>
              <p:ext uri="{D42A27DB-BD31-4B8C-83A1-F6EECF244321}">
                <p14:modId xmlns:p14="http://schemas.microsoft.com/office/powerpoint/2010/main" val="4252601954"/>
              </p:ext>
            </p:extLst>
          </p:nvPr>
        </p:nvGraphicFramePr>
        <p:xfrm>
          <a:off x="2514600" y="1595966"/>
          <a:ext cx="7366000" cy="45423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406400" y="2712987"/>
            <a:ext cx="2451100" cy="2308324"/>
          </a:xfrm>
          <a:prstGeom prst="rect">
            <a:avLst/>
          </a:prstGeom>
          <a:noFill/>
        </p:spPr>
        <p:txBody>
          <a:bodyPr wrap="square" rtlCol="0">
            <a:spAutoFit/>
          </a:bodyPr>
          <a:lstStyle/>
          <a:p>
            <a:pPr algn="ctr"/>
            <a:r>
              <a:rPr lang="en-US" dirty="0" smtClean="0">
                <a:latin typeface="Tahoma" panose="020B0604030504040204" pitchFamily="34" charset="0"/>
                <a:ea typeface="Tahoma" panose="020B0604030504040204" pitchFamily="34" charset="0"/>
                <a:cs typeface="Tahoma" panose="020B0604030504040204" pitchFamily="34" charset="0"/>
              </a:rPr>
              <a:t>West End Market, Owens Food Court and Turner Place participate in the Reusable To Go Container program.  Each location has an Ozzi machine.  </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8" name="TextBox 7"/>
          <p:cNvSpPr txBox="1"/>
          <p:nvPr/>
        </p:nvSpPr>
        <p:spPr>
          <a:xfrm>
            <a:off x="9245600" y="2712987"/>
            <a:ext cx="2438400" cy="2031325"/>
          </a:xfrm>
          <a:prstGeom prst="rect">
            <a:avLst/>
          </a:prstGeom>
          <a:noFill/>
        </p:spPr>
        <p:txBody>
          <a:bodyPr wrap="square" rtlCol="0">
            <a:spAutoFit/>
          </a:bodyPr>
          <a:lstStyle/>
          <a:p>
            <a:pPr algn="ctr"/>
            <a:r>
              <a:rPr lang="en-US" dirty="0" smtClean="0">
                <a:latin typeface="Tahoma" panose="020B0604030504040204" pitchFamily="34" charset="0"/>
                <a:ea typeface="Tahoma" panose="020B0604030504040204" pitchFamily="34" charset="0"/>
                <a:cs typeface="Tahoma" panose="020B0604030504040204" pitchFamily="34" charset="0"/>
              </a:rPr>
              <a:t>At West End Market, Bistro Firenze, Leaf and Ladle, JP’s Chop House and Fighting Gobbler Sports Lounge offer reusable to go containers.  </a:t>
            </a:r>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555444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015375" y="665083"/>
            <a:ext cx="10364451" cy="930883"/>
          </a:xfrm>
        </p:spPr>
        <p:txBody>
          <a:bodyPr/>
          <a:lstStyle/>
          <a:p>
            <a:r>
              <a:rPr lang="en-US" dirty="0" smtClean="0">
                <a:latin typeface="Berlin Sans FB" panose="020E0602020502020306" pitchFamily="34" charset="0"/>
              </a:rPr>
              <a:t>Token Reusable to go container process</a:t>
            </a:r>
            <a:endParaRPr lang="en-US" dirty="0">
              <a:latin typeface="Berlin Sans FB" panose="020E0602020502020306" pitchFamily="34" charset="0"/>
            </a:endParaRPr>
          </a:p>
        </p:txBody>
      </p:sp>
      <p:graphicFrame>
        <p:nvGraphicFramePr>
          <p:cNvPr id="6" name="Diagram 5"/>
          <p:cNvGraphicFramePr/>
          <p:nvPr>
            <p:extLst/>
          </p:nvPr>
        </p:nvGraphicFramePr>
        <p:xfrm>
          <a:off x="2514600" y="1595966"/>
          <a:ext cx="7366000" cy="45423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406400" y="2712987"/>
            <a:ext cx="2451100" cy="2308324"/>
          </a:xfrm>
          <a:prstGeom prst="rect">
            <a:avLst/>
          </a:prstGeom>
          <a:noFill/>
        </p:spPr>
        <p:txBody>
          <a:bodyPr wrap="square" rtlCol="0">
            <a:spAutoFit/>
          </a:bodyPr>
          <a:lstStyle/>
          <a:p>
            <a:pPr algn="ctr"/>
            <a:r>
              <a:rPr lang="en-US" dirty="0" smtClean="0">
                <a:latin typeface="Tahoma" panose="020B0604030504040204" pitchFamily="34" charset="0"/>
                <a:ea typeface="Tahoma" panose="020B0604030504040204" pitchFamily="34" charset="0"/>
                <a:cs typeface="Tahoma" panose="020B0604030504040204" pitchFamily="34" charset="0"/>
              </a:rPr>
              <a:t>West End Market, Owens Food Court and Turner Place participate in the Reusable To Go Container program.  Each location has an Ozzi machine.  </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8" name="TextBox 7"/>
          <p:cNvSpPr txBox="1"/>
          <p:nvPr/>
        </p:nvSpPr>
        <p:spPr>
          <a:xfrm>
            <a:off x="9245600" y="2712987"/>
            <a:ext cx="2438400" cy="2031325"/>
          </a:xfrm>
          <a:prstGeom prst="rect">
            <a:avLst/>
          </a:prstGeom>
          <a:noFill/>
        </p:spPr>
        <p:txBody>
          <a:bodyPr wrap="square" rtlCol="0">
            <a:spAutoFit/>
          </a:bodyPr>
          <a:lstStyle/>
          <a:p>
            <a:pPr algn="ctr"/>
            <a:r>
              <a:rPr lang="en-US" dirty="0" smtClean="0">
                <a:latin typeface="Tahoma" panose="020B0604030504040204" pitchFamily="34" charset="0"/>
                <a:ea typeface="Tahoma" panose="020B0604030504040204" pitchFamily="34" charset="0"/>
                <a:cs typeface="Tahoma" panose="020B0604030504040204" pitchFamily="34" charset="0"/>
              </a:rPr>
              <a:t>At West End Market, Bistro Firenze, Leaf and Ladle, JP’s Chop House and Fighting Gobbler Sports Lounge offer reusable to go containers.  </a:t>
            </a:r>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7261822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892783"/>
          </a:xfrm>
        </p:spPr>
        <p:txBody>
          <a:bodyPr/>
          <a:lstStyle/>
          <a:p>
            <a:r>
              <a:rPr lang="en-US" dirty="0">
                <a:latin typeface="Berlin Sans FB" panose="020E0602020502020306" pitchFamily="34" charset="0"/>
              </a:rPr>
              <a:t>Reusable to go </a:t>
            </a:r>
            <a:r>
              <a:rPr lang="en-US" dirty="0" smtClean="0">
                <a:latin typeface="Berlin Sans FB" panose="020E0602020502020306" pitchFamily="34" charset="0"/>
              </a:rPr>
              <a:t>containers and Ozzi</a:t>
            </a:r>
            <a:endParaRPr lang="en-US" dirty="0"/>
          </a:p>
        </p:txBody>
      </p:sp>
      <p:pic>
        <p:nvPicPr>
          <p:cNvPr id="1026" name="Picture 2" descr="https://farmsandfields.files.wordpress.com/2013/07/11902234_419419924913488_2749718841402084690_n.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1100" y="1760056"/>
            <a:ext cx="2466974" cy="246697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4277275" y="2498486"/>
            <a:ext cx="3637448" cy="2160589"/>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8512945" y="1791035"/>
            <a:ext cx="2032215" cy="1970257"/>
          </a:xfrm>
          <a:prstGeom prst="rect">
            <a:avLst/>
          </a:prstGeom>
        </p:spPr>
      </p:pic>
      <p:sp>
        <p:nvSpPr>
          <p:cNvPr id="5" name="TextBox 4"/>
          <p:cNvSpPr txBox="1"/>
          <p:nvPr/>
        </p:nvSpPr>
        <p:spPr>
          <a:xfrm>
            <a:off x="1046162" y="4475787"/>
            <a:ext cx="2736850" cy="369332"/>
          </a:xfrm>
          <a:prstGeom prst="rect">
            <a:avLst/>
          </a:prstGeom>
          <a:noFill/>
        </p:spPr>
        <p:txBody>
          <a:bodyPr wrap="square" rtlCol="0">
            <a:spAutoFit/>
          </a:bodyPr>
          <a:lstStyle/>
          <a:p>
            <a:r>
              <a:rPr lang="en-US" dirty="0" smtClean="0">
                <a:latin typeface="Tahoma" panose="020B0604030504040204" pitchFamily="34" charset="0"/>
                <a:ea typeface="Tahoma" panose="020B0604030504040204" pitchFamily="34" charset="0"/>
                <a:cs typeface="Tahoma" panose="020B0604030504040204" pitchFamily="34" charset="0"/>
              </a:rPr>
              <a:t>Green reusable to go box</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7" name="TextBox 6"/>
          <p:cNvSpPr txBox="1"/>
          <p:nvPr/>
        </p:nvSpPr>
        <p:spPr>
          <a:xfrm>
            <a:off x="5100636" y="5461595"/>
            <a:ext cx="1990726" cy="369332"/>
          </a:xfrm>
          <a:prstGeom prst="rect">
            <a:avLst/>
          </a:prstGeom>
          <a:noFill/>
        </p:spPr>
        <p:txBody>
          <a:bodyPr wrap="square" rtlCol="0">
            <a:spAutoFit/>
          </a:bodyPr>
          <a:lstStyle/>
          <a:p>
            <a:r>
              <a:rPr lang="en-US" dirty="0" smtClean="0">
                <a:latin typeface="Tahoma" panose="020B0604030504040204" pitchFamily="34" charset="0"/>
                <a:ea typeface="Tahoma" panose="020B0604030504040204" pitchFamily="34" charset="0"/>
                <a:cs typeface="Tahoma" panose="020B0604030504040204" pitchFamily="34" charset="0"/>
              </a:rPr>
              <a:t>The Ozzi Machine</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8" name="TextBox 7"/>
          <p:cNvSpPr txBox="1"/>
          <p:nvPr/>
        </p:nvSpPr>
        <p:spPr>
          <a:xfrm>
            <a:off x="8834165" y="3857699"/>
            <a:ext cx="1389773" cy="369332"/>
          </a:xfrm>
          <a:prstGeom prst="rect">
            <a:avLst/>
          </a:prstGeom>
          <a:noFill/>
        </p:spPr>
        <p:txBody>
          <a:bodyPr wrap="square" rtlCol="0">
            <a:spAutoFit/>
          </a:bodyPr>
          <a:lstStyle/>
          <a:p>
            <a:r>
              <a:rPr lang="en-US" dirty="0" smtClean="0">
                <a:latin typeface="Tahoma" panose="020B0604030504040204" pitchFamily="34" charset="0"/>
                <a:ea typeface="Tahoma" panose="020B0604030504040204" pitchFamily="34" charset="0"/>
                <a:cs typeface="Tahoma" panose="020B0604030504040204" pitchFamily="34" charset="0"/>
              </a:rPr>
              <a:t>Ozzi</a:t>
            </a:r>
            <a:r>
              <a:rPr lang="en-US" dirty="0">
                <a:latin typeface="Tahoma" panose="020B0604030504040204" pitchFamily="34" charset="0"/>
                <a:ea typeface="Tahoma" panose="020B0604030504040204" pitchFamily="34" charset="0"/>
                <a:cs typeface="Tahoma" panose="020B0604030504040204" pitchFamily="34" charset="0"/>
              </a:rPr>
              <a:t> </a:t>
            </a:r>
            <a:r>
              <a:rPr lang="en-US" dirty="0" smtClean="0">
                <a:latin typeface="Tahoma" panose="020B0604030504040204" pitchFamily="34" charset="0"/>
                <a:ea typeface="Tahoma" panose="020B0604030504040204" pitchFamily="34" charset="0"/>
                <a:cs typeface="Tahoma" panose="020B0604030504040204" pitchFamily="34" charset="0"/>
              </a:rPr>
              <a:t>Tokens</a:t>
            </a:r>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2683389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7947" y="165589"/>
            <a:ext cx="10364451" cy="1083283"/>
          </a:xfrm>
        </p:spPr>
        <p:txBody>
          <a:bodyPr/>
          <a:lstStyle/>
          <a:p>
            <a:r>
              <a:rPr lang="en-US" dirty="0" smtClean="0">
                <a:latin typeface="Berlin Sans FB" panose="020E0602020502020306" pitchFamily="34" charset="0"/>
              </a:rPr>
              <a:t>To Go buttons on the register</a:t>
            </a:r>
            <a:endParaRPr lang="en-US" dirty="0">
              <a:latin typeface="Berlin Sans FB" panose="020E0602020502020306" pitchFamily="34" charset="0"/>
            </a:endParaRPr>
          </a:p>
        </p:txBody>
      </p:sp>
      <p:pic>
        <p:nvPicPr>
          <p:cNvPr id="3" name="Picture 2"/>
          <p:cNvPicPr>
            <a:picLocks noChangeAspect="1"/>
          </p:cNvPicPr>
          <p:nvPr/>
        </p:nvPicPr>
        <p:blipFill>
          <a:blip r:embed="rId3"/>
          <a:stretch>
            <a:fillRect/>
          </a:stretch>
        </p:blipFill>
        <p:spPr>
          <a:xfrm>
            <a:off x="2537614" y="1248872"/>
            <a:ext cx="1085850" cy="714375"/>
          </a:xfrm>
          <a:prstGeom prst="rect">
            <a:avLst/>
          </a:prstGeom>
        </p:spPr>
      </p:pic>
      <p:pic>
        <p:nvPicPr>
          <p:cNvPr id="4" name="Picture 3"/>
          <p:cNvPicPr>
            <a:picLocks noChangeAspect="1"/>
          </p:cNvPicPr>
          <p:nvPr/>
        </p:nvPicPr>
        <p:blipFill>
          <a:blip r:embed="rId4"/>
          <a:stretch>
            <a:fillRect/>
          </a:stretch>
        </p:blipFill>
        <p:spPr>
          <a:xfrm rot="5400000">
            <a:off x="2189952" y="1255892"/>
            <a:ext cx="676274" cy="2300284"/>
          </a:xfrm>
          <a:prstGeom prst="rect">
            <a:avLst/>
          </a:prstGeom>
        </p:spPr>
      </p:pic>
      <p:pic>
        <p:nvPicPr>
          <p:cNvPr id="5" name="Picture 4"/>
          <p:cNvPicPr>
            <a:picLocks noChangeAspect="1"/>
          </p:cNvPicPr>
          <p:nvPr/>
        </p:nvPicPr>
        <p:blipFill>
          <a:blip r:embed="rId5"/>
          <a:stretch>
            <a:fillRect/>
          </a:stretch>
        </p:blipFill>
        <p:spPr>
          <a:xfrm rot="5400000">
            <a:off x="2200877" y="2124311"/>
            <a:ext cx="694105" cy="2319334"/>
          </a:xfrm>
          <a:prstGeom prst="rect">
            <a:avLst/>
          </a:prstGeom>
        </p:spPr>
      </p:pic>
      <p:pic>
        <p:nvPicPr>
          <p:cNvPr id="6" name="Picture 5"/>
          <p:cNvPicPr>
            <a:picLocks noChangeAspect="1"/>
          </p:cNvPicPr>
          <p:nvPr/>
        </p:nvPicPr>
        <p:blipFill>
          <a:blip r:embed="rId6"/>
          <a:stretch>
            <a:fillRect/>
          </a:stretch>
        </p:blipFill>
        <p:spPr>
          <a:xfrm rot="5400000">
            <a:off x="2172979" y="3070092"/>
            <a:ext cx="749900" cy="2319335"/>
          </a:xfrm>
          <a:prstGeom prst="rect">
            <a:avLst/>
          </a:prstGeom>
        </p:spPr>
      </p:pic>
      <p:pic>
        <p:nvPicPr>
          <p:cNvPr id="7" name="Picture 6"/>
          <p:cNvPicPr>
            <a:picLocks noChangeAspect="1"/>
          </p:cNvPicPr>
          <p:nvPr/>
        </p:nvPicPr>
        <p:blipFill>
          <a:blip r:embed="rId7"/>
          <a:stretch>
            <a:fillRect/>
          </a:stretch>
        </p:blipFill>
        <p:spPr>
          <a:xfrm rot="5400000">
            <a:off x="2169328" y="4056947"/>
            <a:ext cx="757201" cy="2300284"/>
          </a:xfrm>
          <a:prstGeom prst="rect">
            <a:avLst/>
          </a:prstGeom>
        </p:spPr>
      </p:pic>
      <p:sp>
        <p:nvSpPr>
          <p:cNvPr id="18" name="TextBox 17"/>
          <p:cNvSpPr txBox="1"/>
          <p:nvPr/>
        </p:nvSpPr>
        <p:spPr>
          <a:xfrm>
            <a:off x="3924300" y="1244878"/>
            <a:ext cx="6273800" cy="615553"/>
          </a:xfrm>
          <a:prstGeom prst="rect">
            <a:avLst/>
          </a:prstGeom>
          <a:noFill/>
        </p:spPr>
        <p:txBody>
          <a:bodyPr wrap="square" rtlCol="0">
            <a:spAutoFit/>
          </a:bodyPr>
          <a:lstStyle/>
          <a:p>
            <a:r>
              <a:rPr lang="en-US" sz="1600" dirty="0" smtClean="0">
                <a:latin typeface="Tahoma" panose="020B0604030504040204" pitchFamily="34" charset="0"/>
                <a:ea typeface="Tahoma" panose="020B0604030504040204" pitchFamily="34" charset="0"/>
                <a:cs typeface="Tahoma" panose="020B0604030504040204" pitchFamily="34" charset="0"/>
              </a:rPr>
              <a:t>This button is on the “home” screen and will give you access to the buttons below</a:t>
            </a:r>
            <a:r>
              <a:rPr lang="en-US" dirty="0" smtClean="0">
                <a:latin typeface="Tahoma" panose="020B0604030504040204" pitchFamily="34" charset="0"/>
                <a:ea typeface="Tahoma" panose="020B0604030504040204" pitchFamily="34" charset="0"/>
                <a:cs typeface="Tahoma" panose="020B0604030504040204" pitchFamily="34" charset="0"/>
              </a:rPr>
              <a:t>.</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9" name="TextBox 18"/>
          <p:cNvSpPr txBox="1"/>
          <p:nvPr/>
        </p:nvSpPr>
        <p:spPr>
          <a:xfrm>
            <a:off x="3924300" y="2060697"/>
            <a:ext cx="5932492" cy="338554"/>
          </a:xfrm>
          <a:prstGeom prst="rect">
            <a:avLst/>
          </a:prstGeom>
          <a:noFill/>
        </p:spPr>
        <p:txBody>
          <a:bodyPr wrap="square" rtlCol="0">
            <a:spAutoFit/>
          </a:bodyPr>
          <a:lstStyle/>
          <a:p>
            <a:r>
              <a:rPr lang="en-US" sz="1600" dirty="0">
                <a:latin typeface="Tahoma" panose="020B0604030504040204" pitchFamily="34" charset="0"/>
                <a:ea typeface="Tahoma" panose="020B0604030504040204" pitchFamily="34" charset="0"/>
                <a:cs typeface="Tahoma" panose="020B0604030504040204" pitchFamily="34" charset="0"/>
              </a:rPr>
              <a:t>C</a:t>
            </a:r>
            <a:r>
              <a:rPr lang="en-US" sz="1600" dirty="0" smtClean="0">
                <a:latin typeface="Tahoma" panose="020B0604030504040204" pitchFamily="34" charset="0"/>
                <a:ea typeface="Tahoma" panose="020B0604030504040204" pitchFamily="34" charset="0"/>
                <a:cs typeface="Tahoma" panose="020B0604030504040204" pitchFamily="34" charset="0"/>
              </a:rPr>
              <a:t>harges $.20 for a 9x9 to go box</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p:cNvSpPr txBox="1"/>
          <p:nvPr/>
        </p:nvSpPr>
        <p:spPr>
          <a:xfrm>
            <a:off x="3905872" y="2851805"/>
            <a:ext cx="5932492" cy="830997"/>
          </a:xfrm>
          <a:prstGeom prst="rect">
            <a:avLst/>
          </a:prstGeom>
          <a:noFill/>
        </p:spPr>
        <p:txBody>
          <a:bodyPr wrap="square" rtlCol="0">
            <a:spAutoFit/>
          </a:bodyPr>
          <a:lstStyle/>
          <a:p>
            <a:r>
              <a:rPr lang="en-US" sz="1600" dirty="0" smtClean="0">
                <a:latin typeface="Tahoma" panose="020B0604030504040204" pitchFamily="34" charset="0"/>
                <a:ea typeface="Tahoma" panose="020B0604030504040204" pitchFamily="34" charset="0"/>
                <a:cs typeface="Tahoma" panose="020B0604030504040204" pitchFamily="34" charset="0"/>
              </a:rPr>
              <a:t>When a customer wants to purchase a green to box and is paying with debit, credit or Hokie Passport;  </a:t>
            </a:r>
            <a:r>
              <a:rPr lang="en-US" sz="1600" dirty="0">
                <a:latin typeface="Tahoma" panose="020B0604030504040204" pitchFamily="34" charset="0"/>
                <a:ea typeface="Tahoma" panose="020B0604030504040204" pitchFamily="34" charset="0"/>
                <a:cs typeface="Tahoma" panose="020B0604030504040204" pitchFamily="34" charset="0"/>
              </a:rPr>
              <a:t>t</a:t>
            </a:r>
            <a:r>
              <a:rPr lang="en-US" sz="1600" dirty="0" smtClean="0">
                <a:latin typeface="Tahoma" panose="020B0604030504040204" pitchFamily="34" charset="0"/>
                <a:ea typeface="Tahoma" panose="020B0604030504040204" pitchFamily="34" charset="0"/>
                <a:cs typeface="Tahoma" panose="020B0604030504040204" pitchFamily="34" charset="0"/>
              </a:rPr>
              <a:t>he charge should be $3.50</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21" name="TextBox 20"/>
          <p:cNvSpPr txBox="1"/>
          <p:nvPr/>
        </p:nvSpPr>
        <p:spPr>
          <a:xfrm>
            <a:off x="3905872" y="3844510"/>
            <a:ext cx="5932492" cy="861774"/>
          </a:xfrm>
          <a:prstGeom prst="rect">
            <a:avLst/>
          </a:prstGeom>
          <a:noFill/>
        </p:spPr>
        <p:txBody>
          <a:bodyPr wrap="square" rtlCol="0">
            <a:spAutoFit/>
          </a:bodyPr>
          <a:lstStyle/>
          <a:p>
            <a:r>
              <a:rPr lang="en-US" sz="1600" dirty="0" smtClean="0">
                <a:latin typeface="Tahoma" panose="020B0604030504040204" pitchFamily="34" charset="0"/>
                <a:ea typeface="Tahoma" panose="020B0604030504040204" pitchFamily="34" charset="0"/>
                <a:cs typeface="Tahoma" panose="020B0604030504040204" pitchFamily="34" charset="0"/>
              </a:rPr>
              <a:t>When a customer wants to purchase a green to box and is paying with their Flex Meal plan;  </a:t>
            </a:r>
            <a:r>
              <a:rPr lang="en-US" sz="1600" dirty="0">
                <a:latin typeface="Tahoma" panose="020B0604030504040204" pitchFamily="34" charset="0"/>
                <a:ea typeface="Tahoma" panose="020B0604030504040204" pitchFamily="34" charset="0"/>
                <a:cs typeface="Tahoma" panose="020B0604030504040204" pitchFamily="34" charset="0"/>
              </a:rPr>
              <a:t>t</a:t>
            </a:r>
            <a:r>
              <a:rPr lang="en-US" sz="1600" dirty="0" smtClean="0">
                <a:latin typeface="Tahoma" panose="020B0604030504040204" pitchFamily="34" charset="0"/>
                <a:ea typeface="Tahoma" panose="020B0604030504040204" pitchFamily="34" charset="0"/>
                <a:cs typeface="Tahoma" panose="020B0604030504040204" pitchFamily="34" charset="0"/>
              </a:rPr>
              <a:t>he charge should be $7.00, which will be discounted to $3.50</a:t>
            </a:r>
            <a:r>
              <a:rPr lang="en-US" dirty="0" smtClean="0">
                <a:latin typeface="Tahoma" panose="020B0604030504040204" pitchFamily="34" charset="0"/>
                <a:ea typeface="Tahoma" panose="020B0604030504040204" pitchFamily="34" charset="0"/>
                <a:cs typeface="Tahoma" panose="020B0604030504040204" pitchFamily="34" charset="0"/>
              </a:rPr>
              <a:t>.</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22" name="TextBox 21"/>
          <p:cNvSpPr txBox="1"/>
          <p:nvPr/>
        </p:nvSpPr>
        <p:spPr>
          <a:xfrm>
            <a:off x="3905872" y="4828488"/>
            <a:ext cx="5932492" cy="830997"/>
          </a:xfrm>
          <a:prstGeom prst="rect">
            <a:avLst/>
          </a:prstGeom>
          <a:noFill/>
        </p:spPr>
        <p:txBody>
          <a:bodyPr wrap="square" rtlCol="0">
            <a:spAutoFit/>
          </a:bodyPr>
          <a:lstStyle/>
          <a:p>
            <a:r>
              <a:rPr lang="en-US" sz="1600" dirty="0" smtClean="0">
                <a:latin typeface="Tahoma" panose="020B0604030504040204" pitchFamily="34" charset="0"/>
                <a:ea typeface="Tahoma" panose="020B0604030504040204" pitchFamily="34" charset="0"/>
                <a:cs typeface="Tahoma" panose="020B0604030504040204" pitchFamily="34" charset="0"/>
              </a:rPr>
              <a:t>Use this button when a customer gives you an Ozzi token only; there is no need to use this button after you have used either the GRN TO GO CASH or GRN TO GO FLEX buttons</a:t>
            </a:r>
            <a:endParaRPr lang="en-US" sz="1600" dirty="0">
              <a:latin typeface="Tahoma" panose="020B0604030504040204" pitchFamily="34" charset="0"/>
              <a:ea typeface="Tahoma" panose="020B0604030504040204" pitchFamily="34" charset="0"/>
              <a:cs typeface="Tahoma" panose="020B0604030504040204" pitchFamily="34" charset="0"/>
            </a:endParaRPr>
          </a:p>
        </p:txBody>
      </p:sp>
      <p:pic>
        <p:nvPicPr>
          <p:cNvPr id="23" name="Picture 22"/>
          <p:cNvPicPr>
            <a:picLocks noChangeAspect="1"/>
          </p:cNvPicPr>
          <p:nvPr/>
        </p:nvPicPr>
        <p:blipFill>
          <a:blip r:embed="rId8"/>
          <a:stretch>
            <a:fillRect/>
          </a:stretch>
        </p:blipFill>
        <p:spPr>
          <a:xfrm>
            <a:off x="1692257" y="5953148"/>
            <a:ext cx="2005814" cy="679660"/>
          </a:xfrm>
          <a:prstGeom prst="rect">
            <a:avLst/>
          </a:prstGeom>
        </p:spPr>
      </p:pic>
      <p:sp>
        <p:nvSpPr>
          <p:cNvPr id="24" name="TextBox 23"/>
          <p:cNvSpPr txBox="1"/>
          <p:nvPr/>
        </p:nvSpPr>
        <p:spPr>
          <a:xfrm>
            <a:off x="3905872" y="5877480"/>
            <a:ext cx="5932492" cy="830997"/>
          </a:xfrm>
          <a:prstGeom prst="rect">
            <a:avLst/>
          </a:prstGeom>
          <a:noFill/>
        </p:spPr>
        <p:txBody>
          <a:bodyPr wrap="square" rtlCol="0">
            <a:spAutoFit/>
          </a:bodyPr>
          <a:lstStyle/>
          <a:p>
            <a:r>
              <a:rPr lang="en-US" sz="1600" dirty="0" smtClean="0">
                <a:latin typeface="Tahoma" panose="020B0604030504040204" pitchFamily="34" charset="0"/>
                <a:ea typeface="Tahoma" panose="020B0604030504040204" pitchFamily="34" charset="0"/>
                <a:cs typeface="Tahoma" panose="020B0604030504040204" pitchFamily="34" charset="0"/>
              </a:rPr>
              <a:t>For the 6 inch to go boxes that have no cost associated with them or if you need to let someone know it’s to go but there doesn’t need to be a charge</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160985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8"/>
            <a:ext cx="10364451" cy="661642"/>
          </a:xfrm>
        </p:spPr>
        <p:txBody>
          <a:bodyPr>
            <a:normAutofit/>
          </a:bodyPr>
          <a:lstStyle/>
          <a:p>
            <a:r>
              <a:rPr lang="en-US" dirty="0" smtClean="0">
                <a:latin typeface="Berlin Sans FB" panose="020E0602020502020306" pitchFamily="34" charset="0"/>
              </a:rPr>
              <a:t>Payments</a:t>
            </a:r>
            <a:endParaRPr lang="en-US"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990823" y="2092365"/>
            <a:ext cx="3141235" cy="2355926"/>
          </a:xfrm>
          <a:prstGeom prst="rect">
            <a:avLst/>
          </a:prstGeom>
        </p:spPr>
      </p:pic>
      <p:sp>
        <p:nvSpPr>
          <p:cNvPr id="6" name="TextBox 5"/>
          <p:cNvSpPr txBox="1"/>
          <p:nvPr/>
        </p:nvSpPr>
        <p:spPr>
          <a:xfrm>
            <a:off x="4001845" y="1977666"/>
            <a:ext cx="6347012" cy="2585323"/>
          </a:xfrm>
          <a:prstGeom prst="rect">
            <a:avLst/>
          </a:prstGeom>
          <a:noFill/>
        </p:spPr>
        <p:txBody>
          <a:bodyPr wrap="square" rtlCol="0">
            <a:spAutoFit/>
          </a:bodyPr>
          <a:lstStyle/>
          <a:p>
            <a:pPr algn="ctr"/>
            <a:r>
              <a:rPr lang="en-US" dirty="0" smtClean="0">
                <a:latin typeface="Tahoma" panose="020B0604030504040204" pitchFamily="34" charset="0"/>
                <a:ea typeface="Tahoma" panose="020B0604030504040204" pitchFamily="34" charset="0"/>
                <a:cs typeface="Tahoma" panose="020B0604030504040204" pitchFamily="34" charset="0"/>
              </a:rPr>
              <a:t>After you finish ringing in the order(s), you will need to process their payment.  These buttons on the left are how you process payments.  </a:t>
            </a:r>
          </a:p>
          <a:p>
            <a:pPr algn="ct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lgn="ctr">
              <a:buFontTx/>
              <a:buChar char="-"/>
            </a:pPr>
            <a:r>
              <a:rPr lang="en-US" dirty="0" smtClean="0">
                <a:latin typeface="Tahoma" panose="020B0604030504040204" pitchFamily="34" charset="0"/>
                <a:ea typeface="Tahoma" panose="020B0604030504040204" pitchFamily="34" charset="0"/>
                <a:cs typeface="Tahoma" panose="020B0604030504040204" pitchFamily="34" charset="0"/>
              </a:rPr>
              <a:t>If you are handed a Hokie Passport, 99% of the time you will just need to hit CS GOLD and swipe their card and you’re done.  </a:t>
            </a:r>
          </a:p>
          <a:p>
            <a:pPr marL="285750" indent="-285750" algn="ctr">
              <a:buFontTx/>
              <a:buChar char="-"/>
            </a:pPr>
            <a:r>
              <a:rPr lang="en-US" dirty="0" smtClean="0">
                <a:latin typeface="Tahoma" panose="020B0604030504040204" pitchFamily="34" charset="0"/>
                <a:ea typeface="Tahoma" panose="020B0604030504040204" pitchFamily="34" charset="0"/>
                <a:cs typeface="Tahoma" panose="020B0604030504040204" pitchFamily="34" charset="0"/>
              </a:rPr>
              <a:t>For the 1% and for credit card payments, you will need to hit PAY which takes you to the screen on the next slide.</a:t>
            </a:r>
          </a:p>
        </p:txBody>
      </p:sp>
    </p:spTree>
    <p:extLst>
      <p:ext uri="{BB962C8B-B14F-4D97-AF65-F5344CB8AC3E}">
        <p14:creationId xmlns:p14="http://schemas.microsoft.com/office/powerpoint/2010/main" val="3751335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3389" y="91393"/>
            <a:ext cx="10364451" cy="758462"/>
          </a:xfrm>
        </p:spPr>
        <p:txBody>
          <a:bodyPr/>
          <a:lstStyle/>
          <a:p>
            <a:r>
              <a:rPr lang="en-US" dirty="0">
                <a:latin typeface="Berlin Sans FB" panose="020E0602020502020306" pitchFamily="34" charset="0"/>
              </a:rPr>
              <a:t>Payments</a:t>
            </a:r>
            <a:endParaRPr lang="en-US"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2104" y="2079277"/>
            <a:ext cx="5134984" cy="3851238"/>
          </a:xfrm>
          <a:prstGeom prst="rect">
            <a:avLst/>
          </a:prstGeom>
        </p:spPr>
      </p:pic>
      <p:sp>
        <p:nvSpPr>
          <p:cNvPr id="5" name="TextBox 4"/>
          <p:cNvSpPr txBox="1"/>
          <p:nvPr/>
        </p:nvSpPr>
        <p:spPr>
          <a:xfrm>
            <a:off x="5953190" y="1406200"/>
            <a:ext cx="5432611" cy="4524315"/>
          </a:xfrm>
          <a:prstGeom prst="rect">
            <a:avLst/>
          </a:prstGeom>
          <a:noFill/>
        </p:spPr>
        <p:txBody>
          <a:bodyPr wrap="square" rtlCol="0">
            <a:spAutoFit/>
          </a:bodyPr>
          <a:lstStyle/>
          <a:p>
            <a:pPr algn="ctr"/>
            <a:r>
              <a:rPr lang="en-US" sz="1600" dirty="0" smtClean="0">
                <a:latin typeface="Tahoma" panose="020B0604030504040204" pitchFamily="34" charset="0"/>
                <a:ea typeface="Tahoma" panose="020B0604030504040204" pitchFamily="34" charset="0"/>
                <a:cs typeface="Tahoma" panose="020B0604030504040204" pitchFamily="34" charset="0"/>
              </a:rPr>
              <a:t>This is the payment screen (you get here by pressing the blue PAY button shown on the previous slide).  </a:t>
            </a:r>
          </a:p>
          <a:p>
            <a:pPr algn="ctr"/>
            <a:endParaRPr lang="en-US" sz="1600" dirty="0">
              <a:latin typeface="Tahoma" panose="020B0604030504040204" pitchFamily="34" charset="0"/>
              <a:ea typeface="Tahoma" panose="020B0604030504040204" pitchFamily="34" charset="0"/>
              <a:cs typeface="Tahoma" panose="020B0604030504040204" pitchFamily="34" charset="0"/>
            </a:endParaRPr>
          </a:p>
          <a:p>
            <a:pPr algn="ctr"/>
            <a:r>
              <a:rPr lang="en-US" sz="1600" dirty="0" smtClean="0">
                <a:latin typeface="Tahoma" panose="020B0604030504040204" pitchFamily="34" charset="0"/>
                <a:ea typeface="Tahoma" panose="020B0604030504040204" pitchFamily="34" charset="0"/>
                <a:cs typeface="Tahoma" panose="020B0604030504040204" pitchFamily="34" charset="0"/>
              </a:rPr>
              <a:t>Press the corresponding ORANGE button when processing a payment.  If a customer says to use their HOKIE PASSPORT funds, you would press the ORANGE HOKIE PASS button and swipe their card.  </a:t>
            </a:r>
          </a:p>
          <a:p>
            <a:pPr algn="ctr"/>
            <a:endParaRPr lang="en-US" sz="1600" dirty="0">
              <a:latin typeface="Tahoma" panose="020B0604030504040204" pitchFamily="34" charset="0"/>
              <a:ea typeface="Tahoma" panose="020B0604030504040204" pitchFamily="34" charset="0"/>
              <a:cs typeface="Tahoma" panose="020B0604030504040204" pitchFamily="34" charset="0"/>
            </a:endParaRPr>
          </a:p>
          <a:p>
            <a:pPr algn="ctr"/>
            <a:r>
              <a:rPr lang="en-US" sz="1600" dirty="0" smtClean="0">
                <a:latin typeface="Tahoma" panose="020B0604030504040204" pitchFamily="34" charset="0"/>
                <a:ea typeface="Tahoma" panose="020B0604030504040204" pitchFamily="34" charset="0"/>
                <a:cs typeface="Tahoma" panose="020B0604030504040204" pitchFamily="34" charset="0"/>
              </a:rPr>
              <a:t>The LIGHT GREEN buttons allow to INQUIRE as to how much money a customer has in a certain account.  Sometimes, when you process a payment, a customer won’t have enough money in that account to pay for their purchase.  You will be able to check other accounts to see if they have other funds available.  </a:t>
            </a:r>
          </a:p>
          <a:p>
            <a:pPr algn="ctr"/>
            <a:endParaRPr lang="en-US" sz="1600" dirty="0">
              <a:latin typeface="Tahoma" panose="020B0604030504040204" pitchFamily="34" charset="0"/>
              <a:ea typeface="Tahoma" panose="020B0604030504040204" pitchFamily="34" charset="0"/>
              <a:cs typeface="Tahoma" panose="020B0604030504040204" pitchFamily="34" charset="0"/>
            </a:endParaRPr>
          </a:p>
          <a:p>
            <a:pPr algn="ctr"/>
            <a:r>
              <a:rPr lang="en-US" sz="1600" dirty="0" smtClean="0">
                <a:latin typeface="Tahoma" panose="020B0604030504040204" pitchFamily="34" charset="0"/>
                <a:ea typeface="Tahoma" panose="020B0604030504040204" pitchFamily="34" charset="0"/>
                <a:cs typeface="Tahoma" panose="020B0604030504040204" pitchFamily="34" charset="0"/>
              </a:rPr>
              <a:t>Press the BLUE CREDIT CARD button </a:t>
            </a:r>
            <a:r>
              <a:rPr lang="en-US" sz="1600" b="1" i="1" u="sng" dirty="0" smtClean="0">
                <a:latin typeface="Tahoma" panose="020B0604030504040204" pitchFamily="34" charset="0"/>
                <a:ea typeface="Tahoma" panose="020B0604030504040204" pitchFamily="34" charset="0"/>
                <a:cs typeface="Tahoma" panose="020B0604030504040204" pitchFamily="34" charset="0"/>
              </a:rPr>
              <a:t>after</a:t>
            </a:r>
            <a:r>
              <a:rPr lang="en-US" sz="1600" dirty="0" smtClean="0">
                <a:latin typeface="Tahoma" panose="020B0604030504040204" pitchFamily="34" charset="0"/>
                <a:ea typeface="Tahoma" panose="020B0604030504040204" pitchFamily="34" charset="0"/>
                <a:cs typeface="Tahoma" panose="020B0604030504040204" pitchFamily="34" charset="0"/>
              </a:rPr>
              <a:t> you have processed the credit card on the credit card machine and it has been approved.</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82356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209726"/>
            <a:ext cx="10364451" cy="1608315"/>
          </a:xfrm>
        </p:spPr>
        <p:txBody>
          <a:bodyPr/>
          <a:lstStyle/>
          <a:p>
            <a:r>
              <a:rPr lang="en-US" dirty="0" smtClean="0">
                <a:latin typeface="Berlin Sans FB" panose="020E0602020502020306" pitchFamily="34" charset="0"/>
              </a:rPr>
              <a:t>Payments</a:t>
            </a:r>
            <a:r>
              <a:rPr lang="en-US" sz="1100" dirty="0" smtClean="0">
                <a:latin typeface="Berlin Sans FB" panose="020E0602020502020306" pitchFamily="34" charset="0"/>
              </a:rPr>
              <a:t/>
            </a:r>
            <a:br>
              <a:rPr lang="en-US" sz="1100" dirty="0" smtClean="0">
                <a:latin typeface="Berlin Sans FB" panose="020E0602020502020306" pitchFamily="34" charset="0"/>
              </a:rPr>
            </a:br>
            <a:r>
              <a:rPr lang="en-US" sz="2400" dirty="0" smtClean="0">
                <a:latin typeface="Berlin Sans FB" panose="020E0602020502020306" pitchFamily="34" charset="0"/>
              </a:rPr>
              <a:t/>
            </a:r>
            <a:br>
              <a:rPr lang="en-US" sz="2400" dirty="0" smtClean="0">
                <a:latin typeface="Berlin Sans FB" panose="020E0602020502020306" pitchFamily="34" charset="0"/>
              </a:rPr>
            </a:br>
            <a:r>
              <a:rPr lang="en-US" sz="2400" dirty="0" smtClean="0">
                <a:latin typeface="Berlin Sans FB" panose="020E0602020502020306" pitchFamily="34" charset="0"/>
              </a:rPr>
              <a:t>how to use the credit card machine </a:t>
            </a:r>
            <a:endParaRPr lang="en-US" sz="2400" dirty="0"/>
          </a:p>
        </p:txBody>
      </p:sp>
      <p:pic>
        <p:nvPicPr>
          <p:cNvPr id="3" name="Picture 2"/>
          <p:cNvPicPr>
            <a:picLocks noChangeAspect="1"/>
          </p:cNvPicPr>
          <p:nvPr/>
        </p:nvPicPr>
        <p:blipFill>
          <a:blip r:embed="rId3"/>
          <a:stretch>
            <a:fillRect/>
          </a:stretch>
        </p:blipFill>
        <p:spPr>
          <a:xfrm>
            <a:off x="913775" y="2160101"/>
            <a:ext cx="2190750" cy="3914775"/>
          </a:xfrm>
          <a:prstGeom prst="rect">
            <a:avLst/>
          </a:prstGeom>
        </p:spPr>
      </p:pic>
      <p:sp>
        <p:nvSpPr>
          <p:cNvPr id="5" name="TextBox 4"/>
          <p:cNvSpPr txBox="1"/>
          <p:nvPr/>
        </p:nvSpPr>
        <p:spPr>
          <a:xfrm>
            <a:off x="3324113" y="1870719"/>
            <a:ext cx="8218843" cy="2246769"/>
          </a:xfrm>
          <a:prstGeom prst="rect">
            <a:avLst/>
          </a:prstGeom>
          <a:noFill/>
        </p:spPr>
        <p:txBody>
          <a:bodyPr wrap="square" rtlCol="0">
            <a:spAutoFit/>
          </a:bodyPr>
          <a:lstStyle/>
          <a:p>
            <a:pPr marL="342900" indent="-342900">
              <a:buAutoNum type="arabicPeriod"/>
            </a:pPr>
            <a:r>
              <a:rPr lang="en-US" sz="1400" dirty="0" smtClean="0">
                <a:latin typeface="Tahoma" panose="020B0604030504040204" pitchFamily="34" charset="0"/>
                <a:ea typeface="Tahoma" panose="020B0604030504040204" pitchFamily="34" charset="0"/>
                <a:cs typeface="Tahoma" panose="020B0604030504040204" pitchFamily="34" charset="0"/>
              </a:rPr>
              <a:t>Swipe the customer’s card</a:t>
            </a:r>
            <a:r>
              <a:rPr lang="en-US" sz="1400" dirty="0" smtClean="0"/>
              <a:t>.</a:t>
            </a:r>
            <a:endParaRPr lang="en-US" sz="1400" dirty="0" smtClean="0">
              <a:latin typeface="Tahoma" panose="020B0604030504040204" pitchFamily="34" charset="0"/>
              <a:ea typeface="Tahoma" panose="020B0604030504040204" pitchFamily="34" charset="0"/>
              <a:cs typeface="Tahoma" panose="020B0604030504040204" pitchFamily="34" charset="0"/>
            </a:endParaRPr>
          </a:p>
          <a:p>
            <a:pPr marL="342900" indent="-342900">
              <a:buAutoNum type="arabicPeriod"/>
            </a:pPr>
            <a:r>
              <a:rPr lang="en-US" sz="1400" dirty="0" smtClean="0">
                <a:latin typeface="Tahoma" panose="020B0604030504040204" pitchFamily="34" charset="0"/>
                <a:ea typeface="Tahoma" panose="020B0604030504040204" pitchFamily="34" charset="0"/>
                <a:cs typeface="Tahoma" panose="020B0604030504040204" pitchFamily="34" charset="0"/>
              </a:rPr>
              <a:t>Enter the amount of the transaction in to the credit card machine.  Make sure that it’s the </a:t>
            </a:r>
            <a:r>
              <a:rPr lang="en-US" sz="1400" i="1" dirty="0" smtClean="0">
                <a:latin typeface="Tahoma" panose="020B0604030504040204" pitchFamily="34" charset="0"/>
                <a:ea typeface="Tahoma" panose="020B0604030504040204" pitchFamily="34" charset="0"/>
                <a:cs typeface="Tahoma" panose="020B0604030504040204" pitchFamily="34" charset="0"/>
              </a:rPr>
              <a:t>total including tax </a:t>
            </a:r>
            <a:r>
              <a:rPr lang="en-US" sz="1400" dirty="0" smtClean="0">
                <a:latin typeface="Tahoma" panose="020B0604030504040204" pitchFamily="34" charset="0"/>
                <a:ea typeface="Tahoma" panose="020B0604030504040204" pitchFamily="34" charset="0"/>
                <a:cs typeface="Tahoma" panose="020B0604030504040204" pitchFamily="34" charset="0"/>
              </a:rPr>
              <a:t>from the Micros. </a:t>
            </a:r>
          </a:p>
          <a:p>
            <a:pPr marL="342900" indent="-342900">
              <a:buAutoNum type="arabicPeriod"/>
            </a:pPr>
            <a:r>
              <a:rPr lang="en-US" sz="1400" dirty="0" smtClean="0">
                <a:latin typeface="Tahoma" panose="020B0604030504040204" pitchFamily="34" charset="0"/>
                <a:ea typeface="Tahoma" panose="020B0604030504040204" pitchFamily="34" charset="0"/>
                <a:cs typeface="Tahoma" panose="020B0604030504040204" pitchFamily="34" charset="0"/>
              </a:rPr>
              <a:t>Enter the last 4 digits of the credit card number.</a:t>
            </a:r>
          </a:p>
          <a:p>
            <a:pPr marL="342900" indent="-342900">
              <a:buAutoNum type="arabicPeriod"/>
            </a:pPr>
            <a:r>
              <a:rPr lang="en-US" sz="1400" dirty="0">
                <a:latin typeface="Tahoma" panose="020B0604030504040204" pitchFamily="34" charset="0"/>
                <a:ea typeface="Tahoma" panose="020B0604030504040204" pitchFamily="34" charset="0"/>
                <a:cs typeface="Tahoma" panose="020B0604030504040204" pitchFamily="34" charset="0"/>
              </a:rPr>
              <a:t>E</a:t>
            </a:r>
            <a:r>
              <a:rPr lang="en-US" sz="1400" dirty="0" smtClean="0">
                <a:latin typeface="Tahoma" panose="020B0604030504040204" pitchFamily="34" charset="0"/>
                <a:ea typeface="Tahoma" panose="020B0604030504040204" pitchFamily="34" charset="0"/>
                <a:cs typeface="Tahoma" panose="020B0604030504040204" pitchFamily="34" charset="0"/>
              </a:rPr>
              <a:t>nter the last 2 digits of your clerk card number.  </a:t>
            </a:r>
          </a:p>
          <a:p>
            <a:pPr marL="342900" indent="-342900">
              <a:buAutoNum type="arabicPeriod"/>
            </a:pPr>
            <a:r>
              <a:rPr lang="en-US" sz="1400" dirty="0" smtClean="0">
                <a:latin typeface="Tahoma" panose="020B0604030504040204" pitchFamily="34" charset="0"/>
                <a:ea typeface="Tahoma" panose="020B0604030504040204" pitchFamily="34" charset="0"/>
                <a:cs typeface="Tahoma" panose="020B0604030504040204" pitchFamily="34" charset="0"/>
              </a:rPr>
              <a:t>After the payment is approved, a receipt will print.  Keep this receipt and when prompted, print a copy of the receipt to give to the customer.  </a:t>
            </a:r>
          </a:p>
          <a:p>
            <a:pPr marL="800100" lvl="1" indent="-342900">
              <a:buAutoNum type="arabicPeriod"/>
            </a:pPr>
            <a:r>
              <a:rPr lang="en-US" sz="1400" dirty="0" smtClean="0">
                <a:latin typeface="Tahoma" panose="020B0604030504040204" pitchFamily="34" charset="0"/>
                <a:ea typeface="Tahoma" panose="020B0604030504040204" pitchFamily="34" charset="0"/>
                <a:cs typeface="Tahoma" panose="020B0604030504040204" pitchFamily="34" charset="0"/>
              </a:rPr>
              <a:t>Always make sure the receipt shows that the transaction was approved.</a:t>
            </a:r>
          </a:p>
          <a:p>
            <a:pPr marL="342900" indent="-342900">
              <a:buAutoNum type="arabicPeriod"/>
            </a:pPr>
            <a:r>
              <a:rPr lang="en-US" sz="1400" dirty="0" smtClean="0">
                <a:latin typeface="Tahoma" panose="020B0604030504040204" pitchFamily="34" charset="0"/>
                <a:ea typeface="Tahoma" panose="020B0604030504040204" pitchFamily="34" charset="0"/>
                <a:cs typeface="Tahoma" panose="020B0604030504040204" pitchFamily="34" charset="0"/>
              </a:rPr>
              <a:t>Press CREDIT CARD on the Micros under the payment screen. </a:t>
            </a:r>
            <a:endParaRPr lang="en-US" sz="1400" dirty="0" smtClean="0"/>
          </a:p>
          <a:p>
            <a:pPr marL="342900" indent="-342900">
              <a:buAutoNum type="arabicPeriod"/>
            </a:pPr>
            <a:r>
              <a:rPr lang="en-US" sz="1400" dirty="0" smtClean="0">
                <a:latin typeface="Tahoma" panose="020B0604030504040204" pitchFamily="34" charset="0"/>
                <a:ea typeface="Tahoma" panose="020B0604030504040204" pitchFamily="34" charset="0"/>
                <a:cs typeface="Tahoma" panose="020B0604030504040204" pitchFamily="34" charset="0"/>
              </a:rPr>
              <a:t>Staple the credit card receipt on top of the receipt from the Micros.</a:t>
            </a:r>
          </a:p>
        </p:txBody>
      </p:sp>
      <p:sp>
        <p:nvSpPr>
          <p:cNvPr id="7" name="TextBox 6"/>
          <p:cNvSpPr txBox="1"/>
          <p:nvPr/>
        </p:nvSpPr>
        <p:spPr>
          <a:xfrm>
            <a:off x="3232673" y="4303059"/>
            <a:ext cx="8401722" cy="1815882"/>
          </a:xfrm>
          <a:prstGeom prst="rect">
            <a:avLst/>
          </a:prstGeom>
          <a:noFill/>
        </p:spPr>
        <p:txBody>
          <a:bodyPr wrap="square" rtlCol="0">
            <a:spAutoFit/>
          </a:bodyPr>
          <a:lstStyle/>
          <a:p>
            <a:pPr algn="ctr"/>
            <a:r>
              <a:rPr lang="en-US" sz="1400" dirty="0" smtClean="0">
                <a:latin typeface="Tahoma" panose="020B0604030504040204" pitchFamily="34" charset="0"/>
                <a:ea typeface="Tahoma" panose="020B0604030504040204" pitchFamily="34" charset="0"/>
                <a:cs typeface="Tahoma" panose="020B0604030504040204" pitchFamily="34" charset="0"/>
              </a:rPr>
              <a:t>Things to remember when using a credit card…</a:t>
            </a:r>
          </a:p>
          <a:p>
            <a:pPr marL="285750" indent="-285750" algn="ctr">
              <a:buFont typeface="Arial" panose="020B0604020202020204" pitchFamily="34" charset="0"/>
              <a:buChar char="•"/>
            </a:pPr>
            <a:r>
              <a:rPr lang="en-US" sz="1400" dirty="0" smtClean="0">
                <a:latin typeface="Tahoma" panose="020B0604030504040204" pitchFamily="34" charset="0"/>
                <a:ea typeface="Tahoma" panose="020B0604030504040204" pitchFamily="34" charset="0"/>
                <a:cs typeface="Tahoma" panose="020B0604030504040204" pitchFamily="34" charset="0"/>
              </a:rPr>
              <a:t>Credit cards should only be used in person</a:t>
            </a:r>
          </a:p>
          <a:p>
            <a:pPr marL="285750" indent="-285750" algn="ctr">
              <a:buFont typeface="Arial" panose="020B0604020202020204" pitchFamily="34" charset="0"/>
              <a:buChar char="•"/>
            </a:pPr>
            <a:r>
              <a:rPr lang="en-US" sz="1400" b="1" u="sng" dirty="0" smtClean="0">
                <a:latin typeface="Tahoma" panose="020B0604030504040204" pitchFamily="34" charset="0"/>
                <a:ea typeface="Tahoma" panose="020B0604030504040204" pitchFamily="34" charset="0"/>
                <a:cs typeface="Tahoma" panose="020B0604030504040204" pitchFamily="34" charset="0"/>
              </a:rPr>
              <a:t>NEVER WRITE DOWN A CREDIT CARD NUMBER!!!</a:t>
            </a:r>
          </a:p>
          <a:p>
            <a:pPr marL="285750" indent="-285750" algn="ctr">
              <a:buFont typeface="Arial" panose="020B0604020202020204" pitchFamily="34" charset="0"/>
              <a:buChar char="•"/>
            </a:pPr>
            <a:r>
              <a:rPr lang="en-US" sz="1400" dirty="0" smtClean="0">
                <a:latin typeface="Tahoma" panose="020B0604030504040204" pitchFamily="34" charset="0"/>
                <a:ea typeface="Tahoma" panose="020B0604030504040204" pitchFamily="34" charset="0"/>
                <a:cs typeface="Tahoma" panose="020B0604030504040204" pitchFamily="34" charset="0"/>
              </a:rPr>
              <a:t>Never allow unauthorized personnel to work on the credit card terminal.  If you have any doubts, get a manager.  </a:t>
            </a:r>
          </a:p>
          <a:p>
            <a:pPr marL="285750" indent="-285750" algn="ctr">
              <a:buFont typeface="Arial" panose="020B0604020202020204" pitchFamily="34" charset="0"/>
              <a:buChar char="•"/>
            </a:pPr>
            <a:r>
              <a:rPr lang="en-US" sz="1400" dirty="0" smtClean="0">
                <a:latin typeface="Tahoma" panose="020B0604030504040204" pitchFamily="34" charset="0"/>
                <a:ea typeface="Tahoma" panose="020B0604030504040204" pitchFamily="34" charset="0"/>
                <a:cs typeface="Tahoma" panose="020B0604030504040204" pitchFamily="34" charset="0"/>
              </a:rPr>
              <a:t>Credit card security is very important and it’s important we protect our customer’s information. </a:t>
            </a:r>
          </a:p>
          <a:p>
            <a:pPr marL="285750" indent="-285750" algn="ctr">
              <a:buFont typeface="Arial" panose="020B0604020202020204" pitchFamily="34" charset="0"/>
              <a:buChar char="•"/>
            </a:pPr>
            <a:r>
              <a:rPr lang="en-US" sz="1400" dirty="0" smtClean="0">
                <a:latin typeface="Tahoma" panose="020B0604030504040204" pitchFamily="34" charset="0"/>
                <a:ea typeface="Tahoma" panose="020B0604030504040204" pitchFamily="34" charset="0"/>
                <a:cs typeface="Tahoma" panose="020B0604030504040204" pitchFamily="34" charset="0"/>
              </a:rPr>
              <a:t>If you need a refund performed with a credit card, get a manager immediately and do not allow the customer to leave.  </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8" name="TextBox 7"/>
          <p:cNvSpPr txBox="1"/>
          <p:nvPr/>
        </p:nvSpPr>
        <p:spPr>
          <a:xfrm>
            <a:off x="1508759" y="6448617"/>
            <a:ext cx="10125635" cy="307777"/>
          </a:xfrm>
          <a:prstGeom prst="rect">
            <a:avLst/>
          </a:prstGeom>
          <a:noFill/>
        </p:spPr>
        <p:txBody>
          <a:bodyPr wrap="square" rtlCol="0">
            <a:spAutoFit/>
          </a:bodyPr>
          <a:lstStyle/>
          <a:p>
            <a:r>
              <a:rPr lang="en-US" sz="1400" b="1" dirty="0" smtClean="0">
                <a:latin typeface="Tahoma" panose="020B0604030504040204" pitchFamily="34" charset="0"/>
                <a:ea typeface="Tahoma" panose="020B0604030504040204" pitchFamily="34" charset="0"/>
                <a:cs typeface="Tahoma" panose="020B0604030504040204" pitchFamily="34" charset="0"/>
              </a:rPr>
              <a:t>TRAINERS – Be sure to go over the Payment Card Security and Confidentiality Agreement with employees!</a:t>
            </a:r>
            <a:endParaRPr lang="en-US" sz="14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89864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9987" y="231243"/>
            <a:ext cx="10364451" cy="887554"/>
          </a:xfrm>
        </p:spPr>
        <p:txBody>
          <a:bodyPr/>
          <a:lstStyle/>
          <a:p>
            <a:r>
              <a:rPr lang="en-US" dirty="0">
                <a:latin typeface="Berlin Sans FB" panose="020E0602020502020306" pitchFamily="34" charset="0"/>
              </a:rPr>
              <a:t>Payments</a:t>
            </a:r>
            <a:endParaRPr lang="en-US" dirty="0"/>
          </a:p>
        </p:txBody>
      </p:sp>
      <p:pic>
        <p:nvPicPr>
          <p:cNvPr id="3" name="Picture 2"/>
          <p:cNvPicPr>
            <a:picLocks noChangeAspect="1"/>
          </p:cNvPicPr>
          <p:nvPr/>
        </p:nvPicPr>
        <p:blipFill>
          <a:blip r:embed="rId3"/>
          <a:stretch>
            <a:fillRect/>
          </a:stretch>
        </p:blipFill>
        <p:spPr>
          <a:xfrm>
            <a:off x="4399624" y="3438724"/>
            <a:ext cx="2724150" cy="1981200"/>
          </a:xfrm>
          <a:prstGeom prst="rect">
            <a:avLst/>
          </a:prstGeom>
        </p:spPr>
      </p:pic>
      <p:pic>
        <p:nvPicPr>
          <p:cNvPr id="4" name="Picture 3"/>
          <p:cNvPicPr>
            <a:picLocks noChangeAspect="1"/>
          </p:cNvPicPr>
          <p:nvPr/>
        </p:nvPicPr>
        <p:blipFill>
          <a:blip r:embed="rId4"/>
          <a:stretch>
            <a:fillRect/>
          </a:stretch>
        </p:blipFill>
        <p:spPr>
          <a:xfrm>
            <a:off x="7300576" y="1261672"/>
            <a:ext cx="2905125" cy="3676650"/>
          </a:xfrm>
          <a:prstGeom prst="rect">
            <a:avLst/>
          </a:prstGeom>
        </p:spPr>
      </p:pic>
      <p:pic>
        <p:nvPicPr>
          <p:cNvPr id="5" name="Picture 4"/>
          <p:cNvPicPr>
            <a:picLocks noChangeAspect="1"/>
          </p:cNvPicPr>
          <p:nvPr/>
        </p:nvPicPr>
        <p:blipFill>
          <a:blip r:embed="rId5"/>
          <a:stretch>
            <a:fillRect/>
          </a:stretch>
        </p:blipFill>
        <p:spPr>
          <a:xfrm>
            <a:off x="4614526" y="1118797"/>
            <a:ext cx="2686050" cy="2105025"/>
          </a:xfrm>
          <a:prstGeom prst="rect">
            <a:avLst/>
          </a:prstGeom>
        </p:spPr>
      </p:pic>
      <p:sp>
        <p:nvSpPr>
          <p:cNvPr id="6" name="TextBox 5"/>
          <p:cNvSpPr txBox="1"/>
          <p:nvPr/>
        </p:nvSpPr>
        <p:spPr>
          <a:xfrm>
            <a:off x="859987" y="1792661"/>
            <a:ext cx="3213249" cy="2862322"/>
          </a:xfrm>
          <a:prstGeom prst="rect">
            <a:avLst/>
          </a:prstGeom>
          <a:noFill/>
        </p:spPr>
        <p:txBody>
          <a:bodyPr wrap="square" rtlCol="0">
            <a:spAutoFit/>
          </a:bodyPr>
          <a:lstStyle/>
          <a:p>
            <a:pPr algn="ctr"/>
            <a:r>
              <a:rPr lang="en-US" b="1" dirty="0" smtClean="0">
                <a:latin typeface="Tahoma" panose="020B0604030504040204" pitchFamily="34" charset="0"/>
                <a:ea typeface="Tahoma" panose="020B0604030504040204" pitchFamily="34" charset="0"/>
                <a:cs typeface="Tahoma" panose="020B0604030504040204" pitchFamily="34" charset="0"/>
              </a:rPr>
              <a:t>A few more credit card tips…</a:t>
            </a:r>
          </a:p>
          <a:p>
            <a:pPr marL="285750" indent="-285750" algn="ctr">
              <a:buFontTx/>
              <a:buChar char="-"/>
            </a:pPr>
            <a:r>
              <a:rPr lang="en-US" dirty="0" smtClean="0"/>
              <a:t>If you are asked for a customer ID, or any type of ID for the customer (on the CC machine), just press enter. </a:t>
            </a:r>
          </a:p>
          <a:p>
            <a:pPr marL="285750" indent="-285750" algn="ctr">
              <a:buFontTx/>
              <a:buChar char="-"/>
            </a:pPr>
            <a:r>
              <a:rPr lang="en-US" dirty="0" smtClean="0"/>
              <a:t>Sometimes the CC machine will ask you for the tax amount, leave it as $0.00 and press enter.  </a:t>
            </a:r>
            <a:endParaRPr lang="en-US" dirty="0"/>
          </a:p>
        </p:txBody>
      </p:sp>
    </p:spTree>
    <p:extLst>
      <p:ext uri="{BB962C8B-B14F-4D97-AF65-F5344CB8AC3E}">
        <p14:creationId xmlns:p14="http://schemas.microsoft.com/office/powerpoint/2010/main" val="3820883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89412" y="357666"/>
            <a:ext cx="6917167" cy="650885"/>
          </a:xfrm>
        </p:spPr>
        <p:txBody>
          <a:bodyPr>
            <a:normAutofit/>
          </a:bodyPr>
          <a:lstStyle/>
          <a:p>
            <a:r>
              <a:rPr lang="en-US" dirty="0" smtClean="0">
                <a:latin typeface="Berlin Sans FB" panose="020E0602020502020306" pitchFamily="34" charset="0"/>
              </a:rPr>
              <a:t>Paperwork – End of Shift </a:t>
            </a:r>
            <a:endParaRPr lang="en-US" dirty="0"/>
          </a:p>
        </p:txBody>
      </p:sp>
      <p:pic>
        <p:nvPicPr>
          <p:cNvPr id="4" name="Picture 3"/>
          <p:cNvPicPr>
            <a:picLocks noChangeAspect="1"/>
          </p:cNvPicPr>
          <p:nvPr/>
        </p:nvPicPr>
        <p:blipFill>
          <a:blip r:embed="rId3"/>
          <a:stretch>
            <a:fillRect/>
          </a:stretch>
        </p:blipFill>
        <p:spPr>
          <a:xfrm>
            <a:off x="188818" y="1269402"/>
            <a:ext cx="4071209" cy="5248596"/>
          </a:xfrm>
          <a:prstGeom prst="rect">
            <a:avLst/>
          </a:prstGeom>
        </p:spPr>
      </p:pic>
      <p:sp>
        <p:nvSpPr>
          <p:cNvPr id="5" name="Left Arrow 4"/>
          <p:cNvSpPr/>
          <p:nvPr/>
        </p:nvSpPr>
        <p:spPr>
          <a:xfrm>
            <a:off x="3291840" y="4004896"/>
            <a:ext cx="1645920" cy="46257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4507454" y="1028788"/>
            <a:ext cx="7347475" cy="1569660"/>
          </a:xfrm>
          <a:prstGeom prst="rect">
            <a:avLst/>
          </a:prstGeom>
          <a:noFill/>
          <a:ln w="15875">
            <a:solidFill>
              <a:schemeClr val="tx1"/>
            </a:solidFill>
          </a:ln>
          <a:effectLst/>
        </p:spPr>
        <p:txBody>
          <a:bodyPr wrap="square" rtlCol="0">
            <a:spAutoFit/>
          </a:bodyPr>
          <a:lstStyle/>
          <a:p>
            <a:pPr algn="ctr"/>
            <a:r>
              <a:rPr lang="en-US" sz="1200" dirty="0" smtClean="0">
                <a:latin typeface="Tahoma" panose="020B0604030504040204" pitchFamily="34" charset="0"/>
                <a:ea typeface="Tahoma" panose="020B0604030504040204" pitchFamily="34" charset="0"/>
                <a:cs typeface="Tahoma" panose="020B0604030504040204" pitchFamily="34" charset="0"/>
              </a:rPr>
              <a:t>You will fill out the SHIFT REPORT at the end of your shift </a:t>
            </a:r>
            <a:r>
              <a:rPr lang="en-US" sz="1200" b="1" i="1" dirty="0" smtClean="0">
                <a:latin typeface="Tahoma" panose="020B0604030504040204" pitchFamily="34" charset="0"/>
                <a:ea typeface="Tahoma" panose="020B0604030504040204" pitchFamily="34" charset="0"/>
                <a:cs typeface="Tahoma" panose="020B0604030504040204" pitchFamily="34" charset="0"/>
              </a:rPr>
              <a:t>only if you have credit cards</a:t>
            </a:r>
            <a:r>
              <a:rPr lang="en-US" sz="1200" dirty="0" smtClean="0">
                <a:latin typeface="Tahoma" panose="020B0604030504040204" pitchFamily="34" charset="0"/>
                <a:ea typeface="Tahoma" panose="020B0604030504040204" pitchFamily="34" charset="0"/>
                <a:cs typeface="Tahoma" panose="020B0604030504040204" pitchFamily="34" charset="0"/>
              </a:rPr>
              <a:t>.  If you don’t have credit cards, you will not need to fill this form out.  You can just sign your card back in to the kiosk. </a:t>
            </a:r>
          </a:p>
          <a:p>
            <a:pPr algn="ctr"/>
            <a:endParaRPr lang="en-US" sz="1200" dirty="0">
              <a:latin typeface="Tahoma" panose="020B0604030504040204" pitchFamily="34" charset="0"/>
              <a:ea typeface="Tahoma" panose="020B0604030504040204" pitchFamily="34" charset="0"/>
              <a:cs typeface="Tahoma" panose="020B0604030504040204" pitchFamily="34" charset="0"/>
            </a:endParaRPr>
          </a:p>
          <a:p>
            <a:pPr algn="ctr"/>
            <a:r>
              <a:rPr lang="en-US" sz="1200" dirty="0" smtClean="0">
                <a:latin typeface="Tahoma" panose="020B0604030504040204" pitchFamily="34" charset="0"/>
                <a:ea typeface="Tahoma" panose="020B0604030504040204" pitchFamily="34" charset="0"/>
                <a:cs typeface="Tahoma" panose="020B0604030504040204" pitchFamily="34" charset="0"/>
              </a:rPr>
              <a:t>If you have credit cards, you will need to print off your MICROS CLERK CARD REPORT and SERVER DETAIL CREDIT CARD REPORT.  You’ll need both of these to complete your Shift Report.  </a:t>
            </a:r>
          </a:p>
          <a:p>
            <a:pPr algn="ctr"/>
            <a:endParaRPr lang="en-US" sz="1200" dirty="0">
              <a:latin typeface="Tahoma" panose="020B0604030504040204" pitchFamily="34" charset="0"/>
              <a:ea typeface="Tahoma" panose="020B0604030504040204" pitchFamily="34" charset="0"/>
              <a:cs typeface="Tahoma" panose="020B0604030504040204" pitchFamily="34" charset="0"/>
            </a:endParaRPr>
          </a:p>
          <a:p>
            <a:pPr algn="ctr"/>
            <a:r>
              <a:rPr lang="en-US" sz="1200" dirty="0" smtClean="0">
                <a:latin typeface="Tahoma" panose="020B0604030504040204" pitchFamily="34" charset="0"/>
                <a:ea typeface="Tahoma" panose="020B0604030504040204" pitchFamily="34" charset="0"/>
                <a:cs typeface="Tahoma" panose="020B0604030504040204" pitchFamily="34" charset="0"/>
              </a:rPr>
              <a:t>Instructions for printing them are at each register but the best way to learn will be to have a co-worker show you.  </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7" name="TextBox 6"/>
          <p:cNvSpPr txBox="1"/>
          <p:nvPr/>
        </p:nvSpPr>
        <p:spPr>
          <a:xfrm>
            <a:off x="4883973" y="2714551"/>
            <a:ext cx="6970956" cy="276999"/>
          </a:xfrm>
          <a:prstGeom prst="rect">
            <a:avLst/>
          </a:prstGeom>
          <a:noFill/>
        </p:spPr>
        <p:txBody>
          <a:bodyPr wrap="square" rtlCol="0">
            <a:spAutoFit/>
          </a:bodyPr>
          <a:lstStyle/>
          <a:p>
            <a:r>
              <a:rPr lang="en-US" sz="1200" dirty="0" smtClean="0">
                <a:latin typeface="Tahoma" panose="020B0604030504040204" pitchFamily="34" charset="0"/>
                <a:ea typeface="Tahoma" panose="020B0604030504040204" pitchFamily="34" charset="0"/>
                <a:cs typeface="Tahoma" panose="020B0604030504040204" pitchFamily="34" charset="0"/>
              </a:rPr>
              <a:t>You will print your name, the date, your register number(s) and clerk card – LEGIBILY.</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8" name="Left Arrow 7"/>
          <p:cNvSpPr/>
          <p:nvPr/>
        </p:nvSpPr>
        <p:spPr>
          <a:xfrm>
            <a:off x="3329492" y="3345626"/>
            <a:ext cx="1608268" cy="24532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4937760" y="3337485"/>
            <a:ext cx="6755803" cy="276999"/>
          </a:xfrm>
          <a:prstGeom prst="rect">
            <a:avLst/>
          </a:prstGeom>
          <a:noFill/>
        </p:spPr>
        <p:txBody>
          <a:bodyPr wrap="square" rtlCol="0">
            <a:spAutoFit/>
          </a:bodyPr>
          <a:lstStyle/>
          <a:p>
            <a:r>
              <a:rPr lang="en-US" sz="1200" dirty="0" smtClean="0">
                <a:latin typeface="Tahoma" panose="020B0604030504040204" pitchFamily="34" charset="0"/>
                <a:ea typeface="Tahoma" panose="020B0604030504040204" pitchFamily="34" charset="0"/>
                <a:cs typeface="Tahoma" panose="020B0604030504040204" pitchFamily="34" charset="0"/>
              </a:rPr>
              <a:t>Sign your name here</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10" name="Left Arrow 9"/>
          <p:cNvSpPr/>
          <p:nvPr/>
        </p:nvSpPr>
        <p:spPr>
          <a:xfrm>
            <a:off x="3291840" y="2637149"/>
            <a:ext cx="1645920" cy="46257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937760" y="4004896"/>
            <a:ext cx="6669742" cy="2123658"/>
          </a:xfrm>
          <a:prstGeom prst="rect">
            <a:avLst/>
          </a:prstGeom>
          <a:noFill/>
        </p:spPr>
        <p:txBody>
          <a:bodyPr wrap="square" rtlCol="0">
            <a:spAutoFit/>
          </a:bodyPr>
          <a:lstStyle/>
          <a:p>
            <a:r>
              <a:rPr lang="en-US" sz="1200" dirty="0" smtClean="0">
                <a:latin typeface="Tahoma" panose="020B0604030504040204" pitchFamily="34" charset="0"/>
                <a:ea typeface="Tahoma" panose="020B0604030504040204" pitchFamily="34" charset="0"/>
                <a:cs typeface="Tahoma" panose="020B0604030504040204" pitchFamily="34" charset="0"/>
              </a:rPr>
              <a:t>The Micros My Employee Report and the Server Detail Report from the credit card machine should match.  If they DO NOT MATCH, use the adding machine to total your credit card receipts to find the discrepancy.  You will also need to find a manager as soon as possible.  </a:t>
            </a:r>
          </a:p>
          <a:p>
            <a:endParaRPr lang="en-US" sz="1200" dirty="0" smtClean="0">
              <a:latin typeface="Tahoma" panose="020B0604030504040204" pitchFamily="34" charset="0"/>
              <a:ea typeface="Tahoma" panose="020B0604030504040204" pitchFamily="34" charset="0"/>
              <a:cs typeface="Tahoma" panose="020B0604030504040204" pitchFamily="34" charset="0"/>
            </a:endParaRPr>
          </a:p>
          <a:p>
            <a:r>
              <a:rPr lang="en-US" sz="1200" dirty="0" smtClean="0">
                <a:latin typeface="Tahoma" panose="020B0604030504040204" pitchFamily="34" charset="0"/>
                <a:ea typeface="Tahoma" panose="020B0604030504040204" pitchFamily="34" charset="0"/>
                <a:cs typeface="Tahoma" panose="020B0604030504040204" pitchFamily="34" charset="0"/>
              </a:rPr>
              <a:t>You will write the totals from your Micros Report and Server Detail report on the corresponding lines on the shift report.  If they do not match up, you will write the discrepancy on the Over/Short line.  If you have a discrepancy, you will need to add up all of your credit card receipts with the calculator.  You should explain any overages or shortages on the comment lines for the depositor to read in the morning.  You also need to get a manager if any of your totals to do not match.  We need to try to figure out the problem before you leave.  </a:t>
            </a:r>
          </a:p>
          <a:p>
            <a:r>
              <a:rPr lang="en-US" sz="1200" dirty="0">
                <a:latin typeface="Tahoma" panose="020B0604030504040204" pitchFamily="34" charset="0"/>
                <a:ea typeface="Tahoma" panose="020B0604030504040204" pitchFamily="34" charset="0"/>
                <a:cs typeface="Tahoma" panose="020B0604030504040204" pitchFamily="34" charset="0"/>
              </a:rPr>
              <a:t>	</a:t>
            </a:r>
            <a:endParaRPr lang="en-US" sz="1200" dirty="0" smtClean="0">
              <a:latin typeface="Tahoma" panose="020B0604030504040204" pitchFamily="34" charset="0"/>
              <a:ea typeface="Tahoma" panose="020B0604030504040204" pitchFamily="34" charset="0"/>
              <a:cs typeface="Tahoma" panose="020B0604030504040204" pitchFamily="34" charset="0"/>
            </a:endParaRPr>
          </a:p>
        </p:txBody>
      </p:sp>
      <p:sp>
        <p:nvSpPr>
          <p:cNvPr id="13" name="TextBox 12"/>
          <p:cNvSpPr txBox="1"/>
          <p:nvPr/>
        </p:nvSpPr>
        <p:spPr>
          <a:xfrm>
            <a:off x="4507454" y="5994778"/>
            <a:ext cx="7530353" cy="523220"/>
          </a:xfrm>
          <a:prstGeom prst="rect">
            <a:avLst/>
          </a:prstGeom>
          <a:noFill/>
        </p:spPr>
        <p:txBody>
          <a:bodyPr wrap="square" rtlCol="0">
            <a:spAutoFit/>
          </a:bodyPr>
          <a:lstStyle/>
          <a:p>
            <a:r>
              <a:rPr lang="en-US" sz="1400" dirty="0" smtClean="0">
                <a:latin typeface="Tahoma" panose="020B0604030504040204" pitchFamily="34" charset="0"/>
                <a:ea typeface="Tahoma" panose="020B0604030504040204" pitchFamily="34" charset="0"/>
                <a:cs typeface="Tahoma" panose="020B0604030504040204" pitchFamily="34" charset="0"/>
              </a:rPr>
              <a:t>The first time you fill out your shift report, ask someone one in your shop to help you.  This is a lot of information that will make better sense if you’re shown exactly what we want. </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219817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2257" y="115400"/>
            <a:ext cx="10364451" cy="632745"/>
          </a:xfrm>
        </p:spPr>
        <p:txBody>
          <a:bodyPr/>
          <a:lstStyle/>
          <a:p>
            <a:r>
              <a:rPr lang="en-US" dirty="0" smtClean="0">
                <a:latin typeface="Berlin Sans FB" panose="020E0602020502020306" pitchFamily="34" charset="0"/>
              </a:rPr>
              <a:t>Refunds and refund logs </a:t>
            </a:r>
            <a:endParaRPr lang="en-US" dirty="0"/>
          </a:p>
        </p:txBody>
      </p:sp>
      <p:pic>
        <p:nvPicPr>
          <p:cNvPr id="4" name="Picture 3"/>
          <p:cNvPicPr>
            <a:picLocks noChangeAspect="1"/>
          </p:cNvPicPr>
          <p:nvPr/>
        </p:nvPicPr>
        <p:blipFill>
          <a:blip r:embed="rId3"/>
          <a:stretch>
            <a:fillRect/>
          </a:stretch>
        </p:blipFill>
        <p:spPr>
          <a:xfrm>
            <a:off x="258184" y="3013486"/>
            <a:ext cx="4687925" cy="3629361"/>
          </a:xfrm>
          <a:prstGeom prst="rect">
            <a:avLst/>
          </a:prstGeom>
        </p:spPr>
      </p:pic>
      <p:sp>
        <p:nvSpPr>
          <p:cNvPr id="5" name="TextBox 4"/>
          <p:cNvSpPr txBox="1"/>
          <p:nvPr/>
        </p:nvSpPr>
        <p:spPr>
          <a:xfrm>
            <a:off x="1362634" y="949165"/>
            <a:ext cx="9423699" cy="2031325"/>
          </a:xfrm>
          <a:prstGeom prst="rect">
            <a:avLst/>
          </a:prstGeom>
          <a:noFill/>
        </p:spPr>
        <p:txBody>
          <a:bodyPr wrap="square" rtlCol="0">
            <a:spAutoFit/>
          </a:bodyPr>
          <a:lstStyle/>
          <a:p>
            <a:r>
              <a:rPr lang="en-US" sz="1400" dirty="0" smtClean="0">
                <a:latin typeface="Tahoma" panose="020B0604030504040204" pitchFamily="34" charset="0"/>
                <a:ea typeface="Tahoma" panose="020B0604030504040204" pitchFamily="34" charset="0"/>
                <a:cs typeface="Tahoma" panose="020B0604030504040204" pitchFamily="34" charset="0"/>
              </a:rPr>
              <a:t>When a refund is needed to correct a mistake after the payment has been processed, please get a manager as soon as possible.  Do not leave your register unattended to get a manager.    </a:t>
            </a:r>
          </a:p>
          <a:p>
            <a:pPr marL="285750" indent="-285750">
              <a:buFont typeface="Arial" panose="020B0604020202020204" pitchFamily="34" charset="0"/>
              <a:buChar char="•"/>
            </a:pPr>
            <a:r>
              <a:rPr lang="en-US" sz="1400" u="sng" dirty="0" smtClean="0">
                <a:latin typeface="Tahoma" panose="020B0604030504040204" pitchFamily="34" charset="0"/>
                <a:ea typeface="Tahoma" panose="020B0604030504040204" pitchFamily="34" charset="0"/>
                <a:cs typeface="Tahoma" panose="020B0604030504040204" pitchFamily="34" charset="0"/>
              </a:rPr>
              <a:t>Credit card refunds need to be performed </a:t>
            </a:r>
            <a:r>
              <a:rPr lang="en-US" sz="1400" b="1" u="sng" dirty="0" smtClean="0">
                <a:latin typeface="Tahoma" panose="020B0604030504040204" pitchFamily="34" charset="0"/>
                <a:ea typeface="Tahoma" panose="020B0604030504040204" pitchFamily="34" charset="0"/>
                <a:cs typeface="Tahoma" panose="020B0604030504040204" pitchFamily="34" charset="0"/>
              </a:rPr>
              <a:t>immediately</a:t>
            </a:r>
            <a:r>
              <a:rPr lang="en-US" sz="1400" u="sng" dirty="0" smtClean="0">
                <a:latin typeface="Tahoma" panose="020B0604030504040204" pitchFamily="34" charset="0"/>
                <a:ea typeface="Tahoma" panose="020B0604030504040204" pitchFamily="34" charset="0"/>
                <a:cs typeface="Tahoma" panose="020B0604030504040204" pitchFamily="34" charset="0"/>
              </a:rPr>
              <a:t> and before the customer leaves, so have someone in your shop get a manager right away. Please do not leave your register unattended with customers waiting. </a:t>
            </a:r>
          </a:p>
          <a:p>
            <a:pPr marL="285750" indent="-285750">
              <a:buFont typeface="Arial" panose="020B0604020202020204" pitchFamily="34" charset="0"/>
              <a:buChar char="•"/>
            </a:pPr>
            <a:r>
              <a:rPr lang="en-US" sz="1400" dirty="0" smtClean="0">
                <a:latin typeface="Tahoma" panose="020B0604030504040204" pitchFamily="34" charset="0"/>
                <a:ea typeface="Tahoma" panose="020B0604030504040204" pitchFamily="34" charset="0"/>
                <a:cs typeface="Tahoma" panose="020B0604030504040204" pitchFamily="34" charset="0"/>
              </a:rPr>
              <a:t>If it’s a refund on their Hokie Passport card, we can perform the refund after they’ve left if they are unable to wait. Refunds must be done </a:t>
            </a:r>
            <a:r>
              <a:rPr lang="en-US" sz="1400" i="1" dirty="0" smtClean="0">
                <a:latin typeface="Tahoma" panose="020B0604030504040204" pitchFamily="34" charset="0"/>
                <a:ea typeface="Tahoma" panose="020B0604030504040204" pitchFamily="34" charset="0"/>
                <a:cs typeface="Tahoma" panose="020B0604030504040204" pitchFamily="34" charset="0"/>
              </a:rPr>
              <a:t>before you leave for the day</a:t>
            </a:r>
            <a:r>
              <a:rPr lang="en-US" sz="1400" i="1" dirty="0">
                <a:latin typeface="Tahoma" panose="020B0604030504040204" pitchFamily="34" charset="0"/>
                <a:ea typeface="Tahoma" panose="020B0604030504040204" pitchFamily="34" charset="0"/>
                <a:cs typeface="Tahoma" panose="020B0604030504040204" pitchFamily="34" charset="0"/>
              </a:rPr>
              <a:t> </a:t>
            </a:r>
            <a:r>
              <a:rPr lang="en-US" sz="1400" i="1" dirty="0" smtClean="0">
                <a:latin typeface="Tahoma" panose="020B0604030504040204" pitchFamily="34" charset="0"/>
                <a:ea typeface="Tahoma" panose="020B0604030504040204" pitchFamily="34" charset="0"/>
                <a:cs typeface="Tahoma" panose="020B0604030504040204" pitchFamily="34" charset="0"/>
              </a:rPr>
              <a:t>and turned in with your cashier paperwork</a:t>
            </a:r>
            <a:r>
              <a:rPr lang="en-US" sz="1400" dirty="0" smtClean="0">
                <a:latin typeface="Tahoma" panose="020B0604030504040204" pitchFamily="34" charset="0"/>
                <a:ea typeface="Tahoma" panose="020B0604030504040204" pitchFamily="34" charset="0"/>
                <a:cs typeface="Tahoma" panose="020B0604030504040204" pitchFamily="34" charset="0"/>
              </a:rPr>
              <a:t>. Do not leave refunds in the shop for a manager to find.  </a:t>
            </a:r>
          </a:p>
          <a:p>
            <a:pPr marL="285750" indent="-285750">
              <a:buFont typeface="Arial" panose="020B0604020202020204" pitchFamily="34" charset="0"/>
              <a:buChar char="•"/>
            </a:pPr>
            <a:r>
              <a:rPr lang="en-US" sz="1400" b="1" u="sng" dirty="0" smtClean="0">
                <a:latin typeface="Tahoma" panose="020B0604030504040204" pitchFamily="34" charset="0"/>
                <a:ea typeface="Tahoma" panose="020B0604030504040204" pitchFamily="34" charset="0"/>
                <a:cs typeface="Tahoma" panose="020B0604030504040204" pitchFamily="34" charset="0"/>
              </a:rPr>
              <a:t>NEVER</a:t>
            </a:r>
            <a:r>
              <a:rPr lang="en-US" sz="1400" dirty="0" smtClean="0">
                <a:latin typeface="Tahoma" panose="020B0604030504040204" pitchFamily="34" charset="0"/>
                <a:ea typeface="Tahoma" panose="020B0604030504040204" pitchFamily="34" charset="0"/>
                <a:cs typeface="Tahoma" panose="020B0604030504040204" pitchFamily="34" charset="0"/>
              </a:rPr>
              <a:t> write down a customer’s name and/or Hokie Passport number/credit card number.  NEVER! </a:t>
            </a:r>
          </a:p>
          <a:p>
            <a:pPr marL="285750" indent="-285750">
              <a:buFont typeface="Arial" panose="020B0604020202020204" pitchFamily="34" charset="0"/>
              <a:buChar char="•"/>
            </a:pPr>
            <a:r>
              <a:rPr lang="en-US" sz="1400" dirty="0" smtClean="0">
                <a:latin typeface="Tahoma" panose="020B0604030504040204" pitchFamily="34" charset="0"/>
                <a:ea typeface="Tahoma" panose="020B0604030504040204" pitchFamily="34" charset="0"/>
                <a:cs typeface="Tahoma" panose="020B0604030504040204" pitchFamily="34" charset="0"/>
              </a:rPr>
              <a:t>Management must have the original receipt, with the error, in order to perform the refund.  </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6" name="TextBox 5"/>
          <p:cNvSpPr txBox="1"/>
          <p:nvPr/>
        </p:nvSpPr>
        <p:spPr>
          <a:xfrm>
            <a:off x="5282005" y="3033656"/>
            <a:ext cx="6078070" cy="3754874"/>
          </a:xfrm>
          <a:prstGeom prst="rect">
            <a:avLst/>
          </a:prstGeom>
          <a:noFill/>
        </p:spPr>
        <p:txBody>
          <a:bodyPr wrap="square" rtlCol="0">
            <a:spAutoFit/>
          </a:bodyPr>
          <a:lstStyle/>
          <a:p>
            <a:r>
              <a:rPr lang="en-US" sz="1400" dirty="0" smtClean="0">
                <a:latin typeface="Tahoma" panose="020B0604030504040204" pitchFamily="34" charset="0"/>
                <a:ea typeface="Tahoma" panose="020B0604030504040204" pitchFamily="34" charset="0"/>
                <a:cs typeface="Tahoma" panose="020B0604030504040204" pitchFamily="34" charset="0"/>
              </a:rPr>
              <a:t>Management needs at least 2 receipts, sometimes 3, attached to the refund log  </a:t>
            </a:r>
          </a:p>
          <a:p>
            <a:pPr marL="342900" indent="-342900">
              <a:buAutoNum type="arabicPeriod"/>
            </a:pPr>
            <a:r>
              <a:rPr lang="en-US" sz="1400" dirty="0" smtClean="0">
                <a:latin typeface="Tahoma" panose="020B0604030504040204" pitchFamily="34" charset="0"/>
                <a:ea typeface="Tahoma" panose="020B0604030504040204" pitchFamily="34" charset="0"/>
                <a:cs typeface="Tahoma" panose="020B0604030504040204" pitchFamily="34" charset="0"/>
              </a:rPr>
              <a:t>The receipt with the mistake </a:t>
            </a:r>
          </a:p>
          <a:p>
            <a:pPr marL="342900" indent="-342900">
              <a:buAutoNum type="arabicPeriod"/>
            </a:pPr>
            <a:r>
              <a:rPr lang="en-US" sz="1400" dirty="0" smtClean="0">
                <a:latin typeface="Tahoma" panose="020B0604030504040204" pitchFamily="34" charset="0"/>
                <a:ea typeface="Tahoma" panose="020B0604030504040204" pitchFamily="34" charset="0"/>
                <a:cs typeface="Tahoma" panose="020B0604030504040204" pitchFamily="34" charset="0"/>
              </a:rPr>
              <a:t>The receipt with the refund</a:t>
            </a:r>
          </a:p>
          <a:p>
            <a:pPr marL="342900" indent="-342900">
              <a:buAutoNum type="arabicPeriod"/>
            </a:pPr>
            <a:r>
              <a:rPr lang="en-US" sz="1400" dirty="0" smtClean="0">
                <a:latin typeface="Tahoma" panose="020B0604030504040204" pitchFamily="34" charset="0"/>
                <a:ea typeface="Tahoma" panose="020B0604030504040204" pitchFamily="34" charset="0"/>
                <a:cs typeface="Tahoma" panose="020B0604030504040204" pitchFamily="34" charset="0"/>
              </a:rPr>
              <a:t>The receipt with the correct charge (did you charge them for item X when they ordered item Y or Z?) </a:t>
            </a:r>
          </a:p>
          <a:p>
            <a:endParaRPr lang="en-US" sz="1400" dirty="0" smtClean="0">
              <a:latin typeface="Tahoma" panose="020B0604030504040204" pitchFamily="34" charset="0"/>
              <a:ea typeface="Tahoma" panose="020B0604030504040204" pitchFamily="34" charset="0"/>
              <a:cs typeface="Tahoma" panose="020B0604030504040204" pitchFamily="34" charset="0"/>
            </a:endParaRPr>
          </a:p>
          <a:p>
            <a:r>
              <a:rPr lang="en-US" sz="1400" dirty="0" smtClean="0">
                <a:latin typeface="Tahoma" panose="020B0604030504040204" pitchFamily="34" charset="0"/>
                <a:ea typeface="Tahoma" panose="020B0604030504040204" pitchFamily="34" charset="0"/>
                <a:cs typeface="Tahoma" panose="020B0604030504040204" pitchFamily="34" charset="0"/>
              </a:rPr>
              <a:t>If you’re waiting until later to do have a refund performed…</a:t>
            </a:r>
          </a:p>
          <a:p>
            <a:pPr marL="285750" indent="-285750">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P</a:t>
            </a:r>
            <a:r>
              <a:rPr lang="en-US" sz="1400" dirty="0" smtClean="0">
                <a:latin typeface="Tahoma" panose="020B0604030504040204" pitchFamily="34" charset="0"/>
                <a:ea typeface="Tahoma" panose="020B0604030504040204" pitchFamily="34" charset="0"/>
                <a:cs typeface="Tahoma" panose="020B0604030504040204" pitchFamily="34" charset="0"/>
              </a:rPr>
              <a:t>lease make sure you circle want needs to be refunded and why it needs to be refunded.  </a:t>
            </a:r>
          </a:p>
          <a:p>
            <a:pPr marL="285750" indent="-285750">
              <a:buFont typeface="Arial" panose="020B0604020202020204" pitchFamily="34" charset="0"/>
              <a:buChar char="•"/>
            </a:pPr>
            <a:r>
              <a:rPr lang="en-US" sz="1400" dirty="0" smtClean="0">
                <a:latin typeface="Tahoma" panose="020B0604030504040204" pitchFamily="34" charset="0"/>
                <a:ea typeface="Tahoma" panose="020B0604030504040204" pitchFamily="34" charset="0"/>
                <a:cs typeface="Tahoma" panose="020B0604030504040204" pitchFamily="34" charset="0"/>
              </a:rPr>
              <a:t>If you charged the customer for the wrong item, charge them for the correct item(s) while they are still here.  </a:t>
            </a:r>
          </a:p>
          <a:p>
            <a:pPr marL="285750" indent="-285750">
              <a:buFont typeface="Arial" panose="020B0604020202020204" pitchFamily="34" charset="0"/>
              <a:buChar char="•"/>
            </a:pPr>
            <a:r>
              <a:rPr lang="en-US" sz="1400" dirty="0" smtClean="0">
                <a:latin typeface="Tahoma" panose="020B0604030504040204" pitchFamily="34" charset="0"/>
                <a:ea typeface="Tahoma" panose="020B0604030504040204" pitchFamily="34" charset="0"/>
                <a:cs typeface="Tahoma" panose="020B0604030504040204" pitchFamily="34" charset="0"/>
              </a:rPr>
              <a:t>Inform the customer the refund will be completed by the end of the business day. </a:t>
            </a:r>
          </a:p>
          <a:p>
            <a:pPr marL="285750" indent="-285750">
              <a:buFont typeface="Arial" panose="020B0604020202020204" pitchFamily="34" charset="0"/>
              <a:buChar char="•"/>
            </a:pPr>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b="1" dirty="0" smtClean="0">
                <a:latin typeface="Tahoma" panose="020B0604030504040204" pitchFamily="34" charset="0"/>
                <a:ea typeface="Tahoma" panose="020B0604030504040204" pitchFamily="34" charset="0"/>
                <a:cs typeface="Tahoma" panose="020B0604030504040204" pitchFamily="34" charset="0"/>
              </a:rPr>
              <a:t>Make sure you fill out a refund log and attach it to your shift report</a:t>
            </a:r>
            <a:r>
              <a:rPr lang="en-US" sz="1400" dirty="0" smtClean="0">
                <a:latin typeface="Tahoma" panose="020B0604030504040204" pitchFamily="34" charset="0"/>
                <a:ea typeface="Tahoma" panose="020B0604030504040204" pitchFamily="34" charset="0"/>
                <a:cs typeface="Tahoma" panose="020B0604030504040204" pitchFamily="34" charset="0"/>
              </a:rPr>
              <a:t>.</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07005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913775" y="618518"/>
            <a:ext cx="10364451" cy="819990"/>
          </a:xfrm>
        </p:spPr>
        <p:txBody>
          <a:bodyPr/>
          <a:lstStyle/>
          <a:p>
            <a:r>
              <a:rPr lang="en-US" dirty="0" smtClean="0">
                <a:latin typeface="Berlin Sans FB" panose="020E0602020502020306" pitchFamily="34" charset="0"/>
              </a:rPr>
              <a:t>Offline procedures </a:t>
            </a:r>
            <a:endParaRPr lang="en-US" dirty="0"/>
          </a:p>
        </p:txBody>
      </p:sp>
      <p:sp>
        <p:nvSpPr>
          <p:cNvPr id="4" name="TextBox 3"/>
          <p:cNvSpPr txBox="1"/>
          <p:nvPr/>
        </p:nvSpPr>
        <p:spPr>
          <a:xfrm>
            <a:off x="913775" y="2007219"/>
            <a:ext cx="10459844" cy="2246769"/>
          </a:xfrm>
          <a:prstGeom prst="rect">
            <a:avLst/>
          </a:prstGeom>
          <a:noFill/>
        </p:spPr>
        <p:txBody>
          <a:bodyPr wrap="square" rtlCol="0">
            <a:spAutoFit/>
          </a:bodyPr>
          <a:lstStyle/>
          <a:p>
            <a:pPr algn="ctr"/>
            <a:r>
              <a:rPr lang="en-US" sz="2000" dirty="0" smtClean="0">
                <a:latin typeface="Tahoma" panose="020B0604030504040204" pitchFamily="34" charset="0"/>
                <a:ea typeface="Tahoma" panose="020B0604030504040204" pitchFamily="34" charset="0"/>
                <a:cs typeface="Tahoma" panose="020B0604030504040204" pitchFamily="34" charset="0"/>
              </a:rPr>
              <a:t>Occasionally the Micros system will go offline.  When this happens, </a:t>
            </a:r>
            <a:r>
              <a:rPr lang="en-US" sz="20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OFFLINE </a:t>
            </a:r>
            <a:r>
              <a:rPr lang="en-US" sz="2000" dirty="0" smtClean="0">
                <a:latin typeface="Tahoma" panose="020B0604030504040204" pitchFamily="34" charset="0"/>
                <a:ea typeface="Tahoma" panose="020B0604030504040204" pitchFamily="34" charset="0"/>
                <a:cs typeface="Tahoma" panose="020B0604030504040204" pitchFamily="34" charset="0"/>
              </a:rPr>
              <a:t>will appear in the upper right hand corner.  The Micros will also give you a warning saying “Offline.”  </a:t>
            </a:r>
          </a:p>
          <a:p>
            <a:pPr marL="285750" indent="-285750" algn="ctr">
              <a:buFont typeface="Arial" panose="020B0604020202020204" pitchFamily="34" charset="0"/>
              <a:buChar char="•"/>
            </a:pPr>
            <a:r>
              <a:rPr lang="en-US" sz="2000" dirty="0" smtClean="0">
                <a:latin typeface="Tahoma" panose="020B0604030504040204" pitchFamily="34" charset="0"/>
                <a:ea typeface="Tahoma" panose="020B0604030504040204" pitchFamily="34" charset="0"/>
                <a:cs typeface="Tahoma" panose="020B0604030504040204" pitchFamily="34" charset="0"/>
              </a:rPr>
              <a:t>As soon as you see Offline or receive the offline message, inform a manager.  </a:t>
            </a:r>
          </a:p>
          <a:p>
            <a:pPr marL="285750" indent="-285750" algn="ctr">
              <a:buFont typeface="Arial" panose="020B0604020202020204" pitchFamily="34" charset="0"/>
              <a:buChar char="•"/>
            </a:pPr>
            <a:r>
              <a:rPr lang="en-US" sz="2000" dirty="0" smtClean="0">
                <a:latin typeface="Tahoma" panose="020B0604030504040204" pitchFamily="34" charset="0"/>
                <a:ea typeface="Tahoma" panose="020B0604030504040204" pitchFamily="34" charset="0"/>
                <a:cs typeface="Tahoma" panose="020B0604030504040204" pitchFamily="34" charset="0"/>
              </a:rPr>
              <a:t>You can still take orders while the Micros is offline.  However, balances on cards will not be displayed and Flex plans will not receive the 50% discount while offline.  </a:t>
            </a:r>
            <a:r>
              <a:rPr lang="en-US" sz="2000" u="sng" dirty="0" smtClean="0">
                <a:latin typeface="Tahoma" panose="020B0604030504040204" pitchFamily="34" charset="0"/>
                <a:ea typeface="Tahoma" panose="020B0604030504040204" pitchFamily="34" charset="0"/>
                <a:cs typeface="Tahoma" panose="020B0604030504040204" pitchFamily="34" charset="0"/>
              </a:rPr>
              <a:t>The discount will be applied once the system is brought back on-line</a:t>
            </a:r>
            <a:r>
              <a:rPr lang="en-US" sz="2000" dirty="0" smtClean="0">
                <a:latin typeface="Tahoma" panose="020B0604030504040204" pitchFamily="34" charset="0"/>
                <a:ea typeface="Tahoma" panose="020B0604030504040204" pitchFamily="34" charset="0"/>
                <a:cs typeface="Tahoma" panose="020B0604030504040204" pitchFamily="34" charset="0"/>
              </a:rPr>
              <a:t>.  It’s important that you communicate this to the customer.  </a:t>
            </a:r>
            <a:endParaRPr lang="en-US" sz="2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629341808"/>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2477</TotalTime>
  <Words>3609</Words>
  <Application>Microsoft Office PowerPoint</Application>
  <PresentationFormat>Widescreen</PresentationFormat>
  <Paragraphs>215</Paragraphs>
  <Slides>25</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Berlin Sans FB</vt:lpstr>
      <vt:lpstr>Calibri</vt:lpstr>
      <vt:lpstr>Tahoma</vt:lpstr>
      <vt:lpstr>Tw Cen MT</vt:lpstr>
      <vt:lpstr>Droplet</vt:lpstr>
      <vt:lpstr>PowerPoint Presentation</vt:lpstr>
      <vt:lpstr>Cashier Expectations </vt:lpstr>
      <vt:lpstr>Cashier Expectations </vt:lpstr>
      <vt:lpstr>100% satisfaction guarantee</vt:lpstr>
      <vt:lpstr>Cash handling polices and procedures </vt:lpstr>
      <vt:lpstr>Cash handling polices and procedures </vt:lpstr>
      <vt:lpstr>Cash handling polices and procedures </vt:lpstr>
      <vt:lpstr>Cash handling polices and procedures </vt:lpstr>
      <vt:lpstr>Employee Meal policies </vt:lpstr>
      <vt:lpstr>Employee Meal policies </vt:lpstr>
      <vt:lpstr>Paperwork – beginning of shift </vt:lpstr>
      <vt:lpstr>Using the Micros </vt:lpstr>
      <vt:lpstr>Using the Micros </vt:lpstr>
      <vt:lpstr>To Go containers </vt:lpstr>
      <vt:lpstr>Virtual Token Reusable to go container process</vt:lpstr>
      <vt:lpstr>Token Reusable to go container process</vt:lpstr>
      <vt:lpstr>Reusable to go containers and Ozzi</vt:lpstr>
      <vt:lpstr>To Go buttons on the register</vt:lpstr>
      <vt:lpstr>Payments</vt:lpstr>
      <vt:lpstr>Payments</vt:lpstr>
      <vt:lpstr>Payments  how to use the credit card machine </vt:lpstr>
      <vt:lpstr>Payments</vt:lpstr>
      <vt:lpstr>Paperwork – End of Shift </vt:lpstr>
      <vt:lpstr>Refunds and refund logs </vt:lpstr>
      <vt:lpstr>Offline procedures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Carr, Kathaleen</dc:creator>
  <cp:lastModifiedBy>Carr, Kathaleen</cp:lastModifiedBy>
  <cp:revision>65</cp:revision>
  <cp:lastPrinted>2016-08-12T12:39:53Z</cp:lastPrinted>
  <dcterms:created xsi:type="dcterms:W3CDTF">2016-03-08T18:22:19Z</dcterms:created>
  <dcterms:modified xsi:type="dcterms:W3CDTF">2016-08-12T17:35:30Z</dcterms:modified>
</cp:coreProperties>
</file>